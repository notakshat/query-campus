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755ef3a-7a4e-c5a2-ffc6-2d3652c787ea}">
          <p14:sldIdLst>
            <p14:sldId id="256"/>
            <p14:sldId id="257"/>
            <p14:sldId id="258"/>
            <p14:sldId id="259"/>
          </p14:sldIdLst>
        </p14:section>
        <p14:section name="Solution" id="{3de1e100-c22d-1034-98db-168883ae8b4a}">
          <p14:sldIdLst>
            <p14:sldId id="260"/>
            <p14:sldId id="261"/>
            <p14:sldId id="262"/>
          </p14:sldIdLst>
        </p14:section>
        <p14:section name="Results" id="{2dad4959-342e-b4f6-8dc6-c3456a7951fc}">
          <p14:sldIdLst>
            <p14:sldId id="263"/>
            <p14:sldId id="264"/>
            <p14:sldId id="265"/>
            <p14:sldId id="266"/>
            <p14:sldId id="267"/>
          </p14:sldIdLst>
        </p14:section>
        <p14:section name="Conclusion" id="{c4e44f90-32d4-488e-ee1d-19e764d4dc1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0D0C"/>
                </a:solidFill>
                <a:latin typeface="+mn-lt"/>
              </a:defRPr>
            </a:pPr>
            <a:r>
              <a:rPr sz="1400" b="0" i="0" u="none" strike="noStrike">
                <a:solidFill>
                  <a:srgbClr val="0E0D0C"/>
                </a:solidFill>
                <a:latin typeface="+mn-lt"/>
              </a:rPr>
              <a:t>What is in the database</a:t>
            </a:r>
          </a:p>
        </c:rich>
      </c:tx>
      <c:layout/>
      <c:overlay val="0"/>
    </c:title>
    <c:autoTitleDeleted val="0"/>
    <c:plotArea>
      <c:layout/>
      <c:doughnutChart>
        <c:varyColors val="1"/>
        <c:ser>
          <c:idx val="0"/>
          <c:order val="0"/>
          <c:tx>
            <c:strRef>
              <c:f>Sheet1!$B$1</c:f>
              <c:strCache>
                <c:ptCount val="1"/>
                <c:pt idx="0">
                  <c:v>Documents</c:v>
                </c:pt>
              </c:strCache>
            </c:strRef>
          </c:tx>
          <c:spPr>
            <a:solidFill>
              <a:schemeClr val="accent1"/>
            </a:solidFill>
            <a:ln w="9525" cap="flat">
              <a:solidFill>
                <a:srgbClr val="F9F9F9"/>
              </a:solidFill>
              <a:prstDash val="solid"/>
              <a:round/>
            </a:ln>
            <a:effectLst/>
          </c:spPr>
          <c:dPt>
            <c:idx val="0"/>
            <c:bubble3D val="0"/>
            <c:spPr>
              <a:solidFill>
                <a:srgbClr val="E85A4F"/>
              </a:solidFill>
              <a:ln w="12700" cap="flat">
                <a:solidFill>
                  <a:srgbClr val="EAE7DC"/>
                </a:solidFill>
                <a:prstDash val="solid"/>
                <a:round/>
              </a:ln>
              <a:effectLst/>
            </c:spPr>
          </c:dPt>
          <c:dPt>
            <c:idx val="1"/>
            <c:bubble3D val="0"/>
            <c:spPr>
              <a:solidFill>
                <a:srgbClr val="D8C3A5"/>
              </a:solidFill>
              <a:ln w="12700" cap="flat">
                <a:solidFill>
                  <a:srgbClr val="EAE7DC"/>
                </a:solidFill>
                <a:prstDash val="solid"/>
                <a:round/>
              </a:ln>
              <a:effectLst/>
            </c:spPr>
          </c:dPt>
          <c:dPt>
            <c:idx val="2"/>
            <c:bubble3D val="0"/>
            <c:spPr>
              <a:solidFill>
                <a:srgbClr val="8E8D8A"/>
              </a:solidFill>
              <a:ln w="12700" cap="flat">
                <a:solidFill>
                  <a:srgbClr val="EAE7DC"/>
                </a:solidFill>
                <a:prstDash val="solid"/>
                <a:round/>
              </a:ln>
              <a:effectLst/>
            </c:spPr>
          </c:dPt>
          <c:dLbls>
            <c:dLbl>
              <c:idx val="0"/>
              <c:numFmt formatCode="General" sourceLinked="0"/>
              <c:spPr/>
              <c:txPr>
                <a:bodyPr/>
                <a:lstStyle/>
                <a:p>
                  <a:pPr>
                    <a:defRPr sz="1200" b="0" i="0" u="none" strike="noStrike">
                      <a:solidFill>
                        <a:srgbClr val="0E0D0C"/>
                      </a:solidFill>
                      <a:latin typeface="+mn-lt"/>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0E0D0C"/>
                      </a:solidFill>
                      <a:latin typeface="+mn-lt"/>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0E0D0C"/>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Web pages</c:v>
                </c:pt>
                <c:pt idx="1">
                  <c:v>PDF files</c:v>
                </c:pt>
                <c:pt idx="2">
                  <c:v>Timetable documents</c:v>
                </c:pt>
              </c:strCache>
            </c:strRef>
          </c:cat>
          <c:val>
            <c:numRef>
              <c:f>Sheet1!$B$2:$B$4</c:f>
              <c:numCache>
                <c:ptCount val="3"/>
                <c:pt idx="0">
                  <c:v>160</c:v>
                </c:pt>
                <c:pt idx="1">
                  <c:v>606</c:v>
                </c:pt>
                <c:pt idx="2">
                  <c:v>243</c:v>
                </c:pt>
              </c:numCache>
            </c:numRef>
          </c:val>
        </c:ser>
        <c:firstSliceAng val="0"/>
        <c:holeSize val="55"/>
      </c:doughnutChart>
      <c:spPr>
        <a:noFill/>
        <a:ln>
          <a:noFill/>
        </a:ln>
        <a:effectLst/>
      </c:spPr>
    </c:plotArea>
    <c:legend>
      <c:legendPos val="b"/>
      <c:overlay val="0"/>
      <c:txPr>
        <a:bodyPr/>
        <a:lstStyle/>
        <a:p>
          <a:pPr>
            <a:defRPr sz="1200">
              <a:solidFill>
                <a:srgbClr val="0E0D0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0D0C"/>
                </a:solidFill>
                <a:latin typeface="+mn-lt"/>
              </a:defRPr>
            </a:pPr>
            <a:r>
              <a:rPr sz="1200" b="0" i="0" u="none" strike="noStrike">
                <a:solidFill>
                  <a:srgbClr val="0E0D0C"/>
                </a:solidFill>
                <a:latin typeface="+mn-lt"/>
              </a:rPr>
              <a:t>Position of the right page in the results</a:t>
            </a:r>
          </a:p>
        </c:rich>
      </c:tx>
      <c:layout/>
      <c:overlay val="0"/>
    </c:title>
    <c:autoTitleDeleted val="0"/>
    <c:plotArea>
      <c:layout/>
      <c:barChart>
        <c:barDir val="col"/>
        <c:grouping val="clustered"/>
        <c:varyColors val="0"/>
        <c:ser>
          <c:idx val="0"/>
          <c:order val="0"/>
          <c:tx>
            <c:strRef>
              <c:f>Sheet1!$B$1</c:f>
              <c:strCache>
                <c:ptCount val="1"/>
                <c:pt idx="0">
                  <c:v>Questions</c:v>
                </c:pt>
              </c:strCache>
            </c:strRef>
          </c:tx>
          <c:spPr>
            <a:solidFill>
              <a:srgbClr val="E85A4F"/>
            </a:solidFill>
            <a:effectLst/>
          </c:spPr>
          <c:invertIfNegative val="0"/>
          <c:dLbls>
            <c:numFmt formatCode="#,##0" sourceLinked="0"/>
            <c:txPr>
              <a:bodyPr/>
              <a:lstStyle/>
              <a:p>
                <a:pPr>
                  <a:defRPr b="0" i="0" strike="noStrike" sz="1200" u="none">
                    <a:solidFill>
                      <a:srgbClr val="0E0D0C"/>
                    </a:solidFill>
                    <a:latin typeface="+mn-lt"/>
                  </a:defRPr>
                </a:pPr>
              </a:p>
            </c:txPr>
            <c:showLegendKey val="0"/>
            <c:showVal val="1"/>
            <c:showCatName val="0"/>
            <c:showSerName val="0"/>
            <c:showPercent val="0"/>
            <c:showBubbleSize val="0"/>
            <c:showLeaderLines val="0"/>
          </c:dLbls>
          <c:cat>
            <c:multiLvlStrRef>
              <c:f>Sheet1!$A$2:$A$5</c:f>
              <c:multiLvlStrCache>
                <c:ptCount val="4"/>
                <c:lvl>
                  <c:pt idx="0">
                    <c:v>1st</c:v>
                  </c:pt>
                  <c:pt idx="1">
                    <c:v>2nd</c:v>
                  </c:pt>
                  <c:pt idx="2">
                    <c:v>4th</c:v>
                  </c:pt>
                  <c:pt idx="3">
                    <c:v>8th</c:v>
                  </c:pt>
                </c:lvl>
              </c:multiLvlStrCache>
            </c:multiLvlStrRef>
          </c:cat>
          <c:val>
            <c:numRef>
              <c:f>Sheet1!$B$2:$B$5</c:f>
              <c:numCache>
                <c:formatCode>General</c:formatCode>
                <c:ptCount val="4"/>
                <c:pt idx="0">
                  <c:v>8</c:v>
                </c:pt>
                <c:pt idx="1">
                  <c:v>4</c:v>
                </c:pt>
                <c:pt idx="2">
                  <c:v>1</c:v>
                </c:pt>
                <c:pt idx="3">
                  <c:v>1</c:v>
                </c:pt>
              </c:numCache>
            </c:numRef>
          </c:val>
        </c:ser>
        <c:dLbls>
          <c:numFmt formatCode="#,##0" sourceLinked="0"/>
          <c:txPr>
            <a:bodyPr/>
            <a:lstStyle/>
            <a:p>
              <a:pPr>
                <a:defRPr b="0" i="0" strike="noStrike" sz="1200" u="none">
                  <a:solidFill>
                    <a:srgbClr val="0E0D0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0D0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Query Campus, a chat assistant that answers questions about IET DAVV using only the information published by the college, and shows the sources. It was built by the three of us under the guidance of Vedpriya Dongre.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college has 160 web pages and 606 PDF files, and the class timetables are on another website, which gives 243 more documents. To find one fact, a student has to guess where to look. Chatbots like ChatGPT have not read the college notices, so they can give confident but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the main ways to find information: the college website, the timetable website, Perplexity and ChatPDF, paid college chatbots, and general chatbots. Each one has a problem for our case. None of them answers only from official IET DAVV pages, with sources, at low cost.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five objectives: collect the data, store it so it can be searched in two ways, answer only from that data with sources, present it in a simple chat screen, and measure the accuracy with a fixed list of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means Retrieval-Augmented Generation. First we find the right text from the college data, then we let the AI write the answer using only that text. To update the knowledge we only update the database, we do not retrain any model. If the text is not available, the system says it cannot answer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four parts. The chat screen is a React app. The backend, built with NestJS, receives questions, searches and asks Gemini. Voyage AI turns text into numbers, Pinecone stores them and Google Gemini writes the answers. Separately, a crawler and a timetable scraper collect the college data in advance and save it in Pinecone, so answering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student asks a question. Step two: the backend searches the database by meaning and by keywords at the same time, because keyword search is better for names and codes. Step three: it merges the two lists and keeps the best 16 chunks. Step four: Gemini writes the answer using only those chunks. Step five: the answer appears word by word, with source links and document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features: answers always show their sources; when the answer is not available it says so; it can give documents such as timetables; chats are saved only in the user’s browser; it works on phones; and it keeps working when one AI model or one search is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one language, TypeScript, on both sides. NestJS for the backend and React for the screen. Voyage AI makes the embeddings, Pinecone stores them, and Google Gemini writes the answers. MiniSearch gives us the keyword search. We test with Vitest and host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holds 1,009 documents: 160 web pages, 606 PDF files and 243 timetable documents, one for each class and each teacher. They are cut into 2,864 small chunks, which are what the search actually looks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with 19 real questions about faculty, timetables, fees and documents, and all 19 pass. A normal answer takes 1.5 to 4 seconds. The right page was found for all 14 questions that name a page, and it was the first result in 8 of them. We also have 26 unit tests and 10 end-to-end tests, all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website. The left screenshot is the home screen with suggestion cards. The right one shows an answer with its source link. During the demo, ask the three sample questions: a class coordinator, a timetable document, and the B.Tech fees. Then ask something it cannot answer, to show the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the main limits are that it has no chat memory, its data is as new as the last crawl, it cannot read scanned PDFs and it depends on free plans. Next we would add chat memory, Hindi support, automatic updates and a messaging bot. In conclusion, Query Campus shows that a small, low-cost system can turn a hard-to-use college website into a reliable chat service that shows its sources and does not guess.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0D0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AE7D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0E0D0C"/>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query-campus-web.onrender.com" TargetMode="External"/><Relationship Id="rId2" Type="http://schemas.openxmlformats.org/officeDocument/2006/relationships/image" Target="../media/image-12-1.jpg"/><Relationship Id="rId3" Type="http://schemas.openxmlformats.org/officeDocument/2006/relationships/image" Target="../media/image-12-2.jp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640080"/>
            <a:ext cx="7863840" cy="1005840"/>
          </a:xfrm>
          <a:prstGeom prst="rect">
            <a:avLst/>
          </a:prstGeom>
          <a:noFill/>
          <a:ln/>
        </p:spPr>
        <p:txBody>
          <a:bodyPr wrap="square" lIns="0" tIns="0" rIns="0" bIns="0" rtlCol="0" anchor="ctr"/>
          <a:lstStyle/>
          <a:p>
            <a:pPr indent="0" marL="0">
              <a:buNone/>
            </a:pPr>
            <a:r>
              <a:rPr lang="en-US" sz="5400" b="1" dirty="0">
                <a:solidFill>
                  <a:srgbClr val="F4F2EA"/>
                </a:solidFill>
                <a:latin typeface="Cambria" pitchFamily="34" charset="0"/>
                <a:ea typeface="Cambria" pitchFamily="34" charset="-122"/>
                <a:cs typeface="Cambria" pitchFamily="34" charset="-120"/>
              </a:rPr>
              <a:t>Query Campus</a:t>
            </a:r>
            <a:endParaRPr lang="en-US" sz="5400" dirty="0"/>
          </a:p>
        </p:txBody>
      </p:sp>
      <p:sp>
        <p:nvSpPr>
          <p:cNvPr id="3" name="Subtitle"/>
          <p:cNvSpPr txBox="1"/>
          <p:nvPr/>
        </p:nvSpPr>
        <p:spPr>
          <a:xfrm>
            <a:off x="640080" y="1691640"/>
            <a:ext cx="7498080" cy="822960"/>
          </a:xfrm>
          <a:prstGeom prst="rect">
            <a:avLst/>
          </a:prstGeom>
          <a:noFill/>
          <a:ln/>
        </p:spPr>
        <p:txBody>
          <a:bodyPr wrap="square" lIns="0" tIns="0" rIns="0" bIns="0" rtlCol="0" anchor="ctr"/>
          <a:lstStyle/>
          <a:p>
            <a:pPr indent="0" marL="0">
              <a:buNone/>
            </a:pPr>
            <a:r>
              <a:rPr lang="en-US" sz="1800" dirty="0">
                <a:solidFill>
                  <a:srgbClr val="D8C3A5"/>
                </a:solidFill>
                <a:latin typeface="Calibri" pitchFamily="34" charset="0"/>
                <a:ea typeface="Calibri" pitchFamily="34" charset="-122"/>
                <a:cs typeface="Calibri" pitchFamily="34" charset="-120"/>
              </a:rPr>
              <a:t>A Retrieval-Augmented Generation Based Conversational Assistant for College Website Information Access</a:t>
            </a:r>
            <a:endParaRPr lang="en-US" sz="1800" dirty="0"/>
          </a:p>
        </p:txBody>
      </p:sp>
      <p:sp>
        <p:nvSpPr>
          <p:cNvPr id="4" name="Tagline"/>
          <p:cNvSpPr txBox="1"/>
          <p:nvPr/>
        </p:nvSpPr>
        <p:spPr>
          <a:xfrm>
            <a:off x="640080" y="2606040"/>
            <a:ext cx="7498080" cy="457200"/>
          </a:xfrm>
          <a:prstGeom prst="rect">
            <a:avLst/>
          </a:prstGeom>
          <a:noFill/>
          <a:ln/>
        </p:spPr>
        <p:txBody>
          <a:bodyPr wrap="square" lIns="0" tIns="0" rIns="0" bIns="0" rtlCol="0" anchor="ctr"/>
          <a:lstStyle/>
          <a:p>
            <a:pPr indent="0" marL="0">
              <a:buNone/>
            </a:pPr>
            <a:r>
              <a:rPr lang="en-US" sz="2000" i="1" dirty="0">
                <a:solidFill>
                  <a:srgbClr val="E85A4F"/>
                </a:solidFill>
                <a:latin typeface="Cambria" pitchFamily="34" charset="0"/>
                <a:ea typeface="Cambria" pitchFamily="34" charset="-122"/>
                <a:cs typeface="Cambria" pitchFamily="34" charset="-120"/>
              </a:rPr>
              <a:t>Ask about your campus. Get answers with sources.</a:t>
            </a:r>
            <a:endParaRPr lang="en-US" sz="2000" dirty="0"/>
          </a:p>
        </p:txBody>
      </p:sp>
      <p:sp>
        <p:nvSpPr>
          <p:cNvPr id="5" name="Team details"/>
          <p:cNvSpPr txBox="1"/>
          <p:nvPr/>
        </p:nvSpPr>
        <p:spPr>
          <a:xfrm>
            <a:off x="640080" y="3566160"/>
            <a:ext cx="7863840" cy="1097280"/>
          </a:xfrm>
          <a:prstGeom prst="rect">
            <a:avLst/>
          </a:prstGeom>
          <a:noFill/>
          <a:ln/>
        </p:spPr>
        <p:txBody>
          <a:bodyPr wrap="square" lIns="0" tIns="0" rIns="0" bIns="0" rtlCol="0" anchor="ctr"/>
          <a:lstStyle/>
          <a:p>
            <a:pPr indent="0" marL="0">
              <a:spcAft>
                <a:spcPts val="400"/>
              </a:spcAft>
              <a:buNone/>
            </a:pPr>
            <a:r>
              <a:rPr lang="en-US" sz="1400" dirty="0">
                <a:solidFill>
                  <a:srgbClr val="EAE7DC"/>
                </a:solidFill>
                <a:latin typeface="Calibri" pitchFamily="34" charset="0"/>
                <a:ea typeface="Calibri" pitchFamily="34" charset="-122"/>
                <a:cs typeface="Calibri" pitchFamily="34" charset="-120"/>
              </a:rPr>
              <a:t>Akshat Sharma (23BIT005)   Tanmay Choudhary (23BCS072)   Riya Rawat (23BIT060)</a:t>
            </a:r>
            <a:endParaRPr lang="en-US" sz="1400" dirty="0"/>
          </a:p>
          <a:p>
            <a:pPr indent="0" marL="0">
              <a:spcAft>
                <a:spcPts val="400"/>
              </a:spcAft>
              <a:buNone/>
            </a:pPr>
            <a:r>
              <a:rPr lang="en-US" sz="1400" dirty="0">
                <a:solidFill>
                  <a:srgbClr val="EAE7DC"/>
                </a:solidFill>
                <a:latin typeface="Calibri" pitchFamily="34" charset="0"/>
                <a:ea typeface="Calibri" pitchFamily="34" charset="-122"/>
                <a:cs typeface="Calibri" pitchFamily="34" charset="-120"/>
              </a:rPr>
              <a:t>Guide: Vedpriya Dongre</a:t>
            </a:r>
            <a:endParaRPr lang="en-US" sz="1400" dirty="0"/>
          </a:p>
          <a:p>
            <a:pPr indent="0" marL="0">
              <a:spcAft>
                <a:spcPts val="400"/>
              </a:spcAft>
              <a:buNone/>
            </a:pPr>
            <a:r>
              <a:rPr lang="en-US" sz="1400" dirty="0">
                <a:solidFill>
                  <a:srgbClr val="EAE7DC"/>
                </a:solidFill>
                <a:latin typeface="Calibri" pitchFamily="34" charset="0"/>
                <a:ea typeface="Calibri" pitchFamily="34" charset="-122"/>
                <a:cs typeface="Calibri" pitchFamily="34" charset="-120"/>
              </a:rPr>
              <a:t>Institute of Engineering &amp; Technology, DAVV, Indore   |   B.E. in Information Technology and Computer Science Engineering   |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The problem</a:t>
            </a:r>
            <a:endParaRPr lang="en-US" sz="3200" dirty="0"/>
          </a:p>
        </p:txBody>
      </p:sp>
      <p:sp>
        <p:nvSpPr>
          <p:cNvPr id="3" name="Stat card 1"/>
          <p:cNvSpPr/>
          <p:nvPr/>
        </p:nvSpPr>
        <p:spPr>
          <a:xfrm>
            <a:off x="457200" y="1188720"/>
            <a:ext cx="2560320" cy="1371600"/>
          </a:xfrm>
          <a:prstGeom prst="roundRect">
            <a:avLst>
              <a:gd name="adj" fmla="val 8000"/>
            </a:avLst>
          </a:prstGeom>
          <a:solidFill>
            <a:schemeClr val="bg1"/>
          </a:solidFill>
          <a:ln w="9525">
            <a:solidFill>
              <a:schemeClr val="accent2"/>
            </a:solidFill>
            <a:prstDash val="solid"/>
          </a:ln>
        </p:spPr>
      </p:sp>
      <p:sp>
        <p:nvSpPr>
          <p:cNvPr id="4" name="Stat 1"/>
          <p:cNvSpPr txBox="1"/>
          <p:nvPr/>
        </p:nvSpPr>
        <p:spPr>
          <a:xfrm>
            <a:off x="457200" y="1280160"/>
            <a:ext cx="2560320" cy="822960"/>
          </a:xfrm>
          <a:prstGeom prst="rect">
            <a:avLst/>
          </a:prstGeom>
          <a:noFill/>
          <a:ln/>
        </p:spPr>
        <p:txBody>
          <a:bodyPr wrap="square" lIns="0" tIns="0" rIns="0" bIns="0"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160</a:t>
            </a:r>
            <a:endParaRPr lang="en-US" sz="4800" dirty="0"/>
          </a:p>
        </p:txBody>
      </p:sp>
      <p:sp>
        <p:nvSpPr>
          <p:cNvPr id="5" name="Stat label 1"/>
          <p:cNvSpPr txBox="1"/>
          <p:nvPr/>
        </p:nvSpPr>
        <p:spPr>
          <a:xfrm>
            <a:off x="457200" y="205740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web pages</a:t>
            </a:r>
            <a:endParaRPr lang="en-US" sz="1600" dirty="0"/>
          </a:p>
        </p:txBody>
      </p:sp>
      <p:sp>
        <p:nvSpPr>
          <p:cNvPr id="6" name="Stat card 2"/>
          <p:cNvSpPr/>
          <p:nvPr/>
        </p:nvSpPr>
        <p:spPr>
          <a:xfrm>
            <a:off x="3291840" y="1188720"/>
            <a:ext cx="2560320" cy="1371600"/>
          </a:xfrm>
          <a:prstGeom prst="roundRect">
            <a:avLst>
              <a:gd name="adj" fmla="val 8000"/>
            </a:avLst>
          </a:prstGeom>
          <a:solidFill>
            <a:schemeClr val="bg1"/>
          </a:solidFill>
          <a:ln w="9525">
            <a:solidFill>
              <a:schemeClr val="accent2"/>
            </a:solidFill>
            <a:prstDash val="solid"/>
          </a:ln>
        </p:spPr>
      </p:sp>
      <p:sp>
        <p:nvSpPr>
          <p:cNvPr id="7" name="Stat 2"/>
          <p:cNvSpPr txBox="1"/>
          <p:nvPr/>
        </p:nvSpPr>
        <p:spPr>
          <a:xfrm>
            <a:off x="3291840" y="1280160"/>
            <a:ext cx="2560320" cy="822960"/>
          </a:xfrm>
          <a:prstGeom prst="rect">
            <a:avLst/>
          </a:prstGeom>
          <a:noFill/>
          <a:ln/>
        </p:spPr>
        <p:txBody>
          <a:bodyPr wrap="square" lIns="0" tIns="0" rIns="0" bIns="0"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606</a:t>
            </a:r>
            <a:endParaRPr lang="en-US" sz="4800" dirty="0"/>
          </a:p>
        </p:txBody>
      </p:sp>
      <p:sp>
        <p:nvSpPr>
          <p:cNvPr id="8" name="Stat label 2"/>
          <p:cNvSpPr txBox="1"/>
          <p:nvPr/>
        </p:nvSpPr>
        <p:spPr>
          <a:xfrm>
            <a:off x="3291840" y="205740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PDF files</a:t>
            </a:r>
            <a:endParaRPr lang="en-US" sz="1600" dirty="0"/>
          </a:p>
        </p:txBody>
      </p:sp>
      <p:sp>
        <p:nvSpPr>
          <p:cNvPr id="9" name="Stat card 3"/>
          <p:cNvSpPr/>
          <p:nvPr/>
        </p:nvSpPr>
        <p:spPr>
          <a:xfrm>
            <a:off x="6126480" y="1188720"/>
            <a:ext cx="2560320" cy="1371600"/>
          </a:xfrm>
          <a:prstGeom prst="roundRect">
            <a:avLst>
              <a:gd name="adj" fmla="val 8000"/>
            </a:avLst>
          </a:prstGeom>
          <a:solidFill>
            <a:schemeClr val="bg1"/>
          </a:solidFill>
          <a:ln w="9525">
            <a:solidFill>
              <a:schemeClr val="accent2"/>
            </a:solidFill>
            <a:prstDash val="solid"/>
          </a:ln>
        </p:spPr>
      </p:sp>
      <p:sp>
        <p:nvSpPr>
          <p:cNvPr id="10" name="Stat 3"/>
          <p:cNvSpPr txBox="1"/>
          <p:nvPr/>
        </p:nvSpPr>
        <p:spPr>
          <a:xfrm>
            <a:off x="6126480" y="1280160"/>
            <a:ext cx="2560320" cy="822960"/>
          </a:xfrm>
          <a:prstGeom prst="rect">
            <a:avLst/>
          </a:prstGeom>
          <a:noFill/>
          <a:ln/>
        </p:spPr>
        <p:txBody>
          <a:bodyPr wrap="square" lIns="0" tIns="0" rIns="0" bIns="0"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243</a:t>
            </a:r>
            <a:endParaRPr lang="en-US" sz="4800" dirty="0"/>
          </a:p>
        </p:txBody>
      </p:sp>
      <p:sp>
        <p:nvSpPr>
          <p:cNvPr id="11" name="Stat label 3"/>
          <p:cNvSpPr txBox="1"/>
          <p:nvPr/>
        </p:nvSpPr>
        <p:spPr>
          <a:xfrm>
            <a:off x="6126480" y="205740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timetable documents</a:t>
            </a:r>
            <a:endParaRPr lang="en-US" sz="1600" dirty="0"/>
          </a:p>
        </p:txBody>
      </p:sp>
      <p:sp>
        <p:nvSpPr>
          <p:cNvPr id="12" name="Problem points"/>
          <p:cNvSpPr txBox="1"/>
          <p:nvPr/>
        </p:nvSpPr>
        <p:spPr>
          <a:xfrm>
            <a:off x="457200" y="2880360"/>
            <a:ext cx="8229600" cy="16459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latin typeface="Calibri" pitchFamily="34" charset="0"/>
                <a:ea typeface="Calibri" pitchFamily="34" charset="-122"/>
                <a:cs typeface="Calibri" pitchFamily="34" charset="-120"/>
              </a:rPr>
              <a:t>College information is spread over many pages, files and a separate timetable website</a:t>
            </a:r>
            <a:endParaRPr lang="en-US" sz="1800" dirty="0"/>
          </a:p>
          <a:p>
            <a:pPr marL="342900" indent="-342900">
              <a:spcAft>
                <a:spcPts val="1000"/>
              </a:spcAft>
              <a:buSzPct val="100000"/>
              <a:buChar char="•"/>
            </a:pPr>
            <a:r>
              <a:rPr lang="en-US" sz="1800" dirty="0">
                <a:solidFill>
                  <a:schemeClr val="tx1"/>
                </a:solidFill>
                <a:latin typeface="Calibri" pitchFamily="34" charset="0"/>
                <a:ea typeface="Calibri" pitchFamily="34" charset="-122"/>
                <a:cs typeface="Calibri" pitchFamily="34" charset="-120"/>
              </a:rPr>
              <a:t>A student cannot simply ask a question and get a direct answer</a:t>
            </a:r>
            <a:endParaRPr lang="en-US" sz="1800" dirty="0"/>
          </a:p>
          <a:p>
            <a:pPr marL="342900" indent="-342900">
              <a:spcAft>
                <a:spcPts val="1000"/>
              </a:spcAft>
              <a:buSzPct val="100000"/>
              <a:buChar char="•"/>
            </a:pPr>
            <a:r>
              <a:rPr lang="en-US" sz="1800" dirty="0">
                <a:solidFill>
                  <a:schemeClr val="tx1"/>
                </a:solidFill>
                <a:latin typeface="Calibri" pitchFamily="34" charset="0"/>
                <a:ea typeface="Calibri" pitchFamily="34" charset="-122"/>
                <a:cs typeface="Calibri" pitchFamily="34" charset="-120"/>
              </a:rPr>
              <a:t>General chatbots do not know the college and may give wrong answers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Existing solutions and the gap</a:t>
            </a:r>
            <a:endParaRPr lang="en-US" sz="32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926080"/>
                <a:gridCol w="530352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Solution</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accent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Main problem</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College website search</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Information is scattered; no direct answers</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Timetable website</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User must know the class; cannot ask questions</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Perplexity, ChatPDF</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Whole web, or only one uploaded file</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Paid college chatbots</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Closed, paid, not made for IET DAVV</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ChatGPT, Gemini, FAQ bots</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May make up facts, or answer only fixed questions</a:t>
                      </a:r>
                      <a:endParaRPr lang="en-US" sz="1400" dirty="0">
                        <a:latin typeface="Calibri" charset="0"/>
                        <a:ea typeface="Calibri" charset="0"/>
                        <a:cs typeface="Calibri" charset="0"/>
                      </a:endParaRPr>
                    </a:p>
                  </a:txBody>
                  <a:tcPr marL="109728" marR="109728" marT="36576" marB="36576" anchor="ctr">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r>
            </a:tbl>
          </a:graphicData>
        </a:graphic>
      </p:graphicFrame>
      <p:sp>
        <p:nvSpPr>
          <p:cNvPr id="4" name="Gap box"/>
          <p:cNvSpPr/>
          <p:nvPr/>
        </p:nvSpPr>
        <p:spPr>
          <a:xfrm>
            <a:off x="457200" y="3840480"/>
            <a:ext cx="8229600" cy="777240"/>
          </a:xfrm>
          <a:prstGeom prst="roundRect">
            <a:avLst>
              <a:gd name="adj" fmla="val 14118"/>
            </a:avLst>
          </a:prstGeom>
          <a:solidFill>
            <a:schemeClr val="tx1"/>
          </a:solidFill>
          <a:ln w="12700">
            <a:solidFill>
              <a:schemeClr val="tx1"/>
            </a:solidFill>
            <a:prstDash val="solid"/>
          </a:ln>
        </p:spPr>
      </p:sp>
      <p:sp>
        <p:nvSpPr>
          <p:cNvPr id="5" name="Gap text"/>
          <p:cNvSpPr txBox="1"/>
          <p:nvPr/>
        </p:nvSpPr>
        <p:spPr>
          <a:xfrm>
            <a:off x="640080" y="3840480"/>
            <a:ext cx="7863840" cy="777240"/>
          </a:xfrm>
          <a:prstGeom prst="rect">
            <a:avLst/>
          </a:prstGeom>
          <a:noFill/>
          <a:ln/>
        </p:spPr>
        <p:txBody>
          <a:bodyPr wrap="square" lIns="0" tIns="0" rIns="0" bIns="0" rtlCol="0" anchor="ctr"/>
          <a:lstStyle/>
          <a:p>
            <a:pPr indent="0" marL="0">
              <a:buNone/>
            </a:pPr>
            <a:r>
              <a:rPr lang="en-US" sz="1600" b="1" dirty="0">
                <a:solidFill>
                  <a:srgbClr val="E85A4F"/>
                </a:solidFill>
                <a:latin typeface="Calibri" pitchFamily="34" charset="0"/>
                <a:ea typeface="Calibri" pitchFamily="34" charset="-122"/>
                <a:cs typeface="Calibri" pitchFamily="34" charset="-120"/>
              </a:rPr>
              <a:t>The gap:  </a:t>
            </a:r>
            <a:pPr indent="0" marL="0">
              <a:buNone/>
            </a:pPr>
            <a:r>
              <a:rPr lang="en-US" sz="1600" dirty="0">
                <a:solidFill>
                  <a:srgbClr val="F4F2EA"/>
                </a:solidFill>
                <a:latin typeface="Calibri" pitchFamily="34" charset="0"/>
                <a:ea typeface="Calibri" pitchFamily="34" charset="-122"/>
                <a:cs typeface="Calibri" pitchFamily="34" charset="-120"/>
              </a:rPr>
              <a:t>no solution answers only from official IET DAVV pages, with sources, at low cost.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Objectives</a:t>
            </a:r>
            <a:endParaRPr lang="en-US" sz="3200" dirty="0"/>
          </a:p>
        </p:txBody>
      </p:sp>
      <p:sp>
        <p:nvSpPr>
          <p:cNvPr id="3" name="Objective card 1"/>
          <p:cNvSpPr/>
          <p:nvPr/>
        </p:nvSpPr>
        <p:spPr>
          <a:xfrm>
            <a:off x="457200" y="1188720"/>
            <a:ext cx="8229600" cy="566928"/>
          </a:xfrm>
          <a:prstGeom prst="roundRect">
            <a:avLst>
              <a:gd name="adj" fmla="val 19355"/>
            </a:avLst>
          </a:prstGeom>
          <a:solidFill>
            <a:schemeClr val="bg1"/>
          </a:solidFill>
          <a:ln w="9525">
            <a:solidFill>
              <a:schemeClr val="accent2"/>
            </a:solidFill>
            <a:prstDash val="solid"/>
          </a:ln>
        </p:spPr>
      </p:sp>
      <p:sp>
        <p:nvSpPr>
          <p:cNvPr id="4" name="Objective 1 circle"/>
          <p:cNvSpPr/>
          <p:nvPr/>
        </p:nvSpPr>
        <p:spPr>
          <a:xfrm>
            <a:off x="594360" y="1243584"/>
            <a:ext cx="457200" cy="457200"/>
          </a:xfrm>
          <a:prstGeom prst="ellipse">
            <a:avLst/>
          </a:prstGeom>
          <a:solidFill>
            <a:schemeClr val="accent1"/>
          </a:solidFill>
          <a:ln w="12700">
            <a:solidFill>
              <a:schemeClr val="accent1"/>
            </a:solidFill>
            <a:prstDash val="solid"/>
          </a:ln>
        </p:spPr>
      </p:sp>
      <p:sp>
        <p:nvSpPr>
          <p:cNvPr id="5" name="Objective 1 text"/>
          <p:cNvSpPr txBox="1"/>
          <p:nvPr/>
        </p:nvSpPr>
        <p:spPr>
          <a:xfrm>
            <a:off x="594360" y="12435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Objective text 1"/>
          <p:cNvSpPr txBox="1"/>
          <p:nvPr/>
        </p:nvSpPr>
        <p:spPr>
          <a:xfrm>
            <a:off x="1280160" y="1188720"/>
            <a:ext cx="7223760" cy="56692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Collect the text of the college website and the timetable website</a:t>
            </a:r>
            <a:endParaRPr lang="en-US" sz="1600" dirty="0"/>
          </a:p>
        </p:txBody>
      </p:sp>
      <p:sp>
        <p:nvSpPr>
          <p:cNvPr id="7" name="Objective card 2"/>
          <p:cNvSpPr/>
          <p:nvPr/>
        </p:nvSpPr>
        <p:spPr>
          <a:xfrm>
            <a:off x="457200" y="1874520"/>
            <a:ext cx="8229600" cy="566928"/>
          </a:xfrm>
          <a:prstGeom prst="roundRect">
            <a:avLst>
              <a:gd name="adj" fmla="val 19355"/>
            </a:avLst>
          </a:prstGeom>
          <a:solidFill>
            <a:schemeClr val="bg1"/>
          </a:solidFill>
          <a:ln w="9525">
            <a:solidFill>
              <a:schemeClr val="accent2"/>
            </a:solidFill>
            <a:prstDash val="solid"/>
          </a:ln>
        </p:spPr>
      </p:sp>
      <p:sp>
        <p:nvSpPr>
          <p:cNvPr id="8" name="Objective 2 circle"/>
          <p:cNvSpPr/>
          <p:nvPr/>
        </p:nvSpPr>
        <p:spPr>
          <a:xfrm>
            <a:off x="594360" y="1929384"/>
            <a:ext cx="457200" cy="457200"/>
          </a:xfrm>
          <a:prstGeom prst="ellipse">
            <a:avLst/>
          </a:prstGeom>
          <a:solidFill>
            <a:schemeClr val="accent1"/>
          </a:solidFill>
          <a:ln w="12700">
            <a:solidFill>
              <a:schemeClr val="accent1"/>
            </a:solidFill>
            <a:prstDash val="solid"/>
          </a:ln>
        </p:spPr>
      </p:sp>
      <p:sp>
        <p:nvSpPr>
          <p:cNvPr id="9" name="Objective 2 text"/>
          <p:cNvSpPr txBox="1"/>
          <p:nvPr/>
        </p:nvSpPr>
        <p:spPr>
          <a:xfrm>
            <a:off x="594360"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Objective text 2"/>
          <p:cNvSpPr txBox="1"/>
          <p:nvPr/>
        </p:nvSpPr>
        <p:spPr>
          <a:xfrm>
            <a:off x="1280160" y="1874520"/>
            <a:ext cx="7223760" cy="56692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Store it so it can be searched by meaning and by keywords</a:t>
            </a:r>
            <a:endParaRPr lang="en-US" sz="1600" dirty="0"/>
          </a:p>
        </p:txBody>
      </p:sp>
      <p:sp>
        <p:nvSpPr>
          <p:cNvPr id="11" name="Objective card 3"/>
          <p:cNvSpPr/>
          <p:nvPr/>
        </p:nvSpPr>
        <p:spPr>
          <a:xfrm>
            <a:off x="457200" y="2560320"/>
            <a:ext cx="8229600" cy="566928"/>
          </a:xfrm>
          <a:prstGeom prst="roundRect">
            <a:avLst>
              <a:gd name="adj" fmla="val 19355"/>
            </a:avLst>
          </a:prstGeom>
          <a:solidFill>
            <a:schemeClr val="bg1"/>
          </a:solidFill>
          <a:ln w="9525">
            <a:solidFill>
              <a:schemeClr val="accent2"/>
            </a:solidFill>
            <a:prstDash val="solid"/>
          </a:ln>
        </p:spPr>
      </p:sp>
      <p:sp>
        <p:nvSpPr>
          <p:cNvPr id="12" name="Objective 3 circle"/>
          <p:cNvSpPr/>
          <p:nvPr/>
        </p:nvSpPr>
        <p:spPr>
          <a:xfrm>
            <a:off x="594360" y="2615184"/>
            <a:ext cx="457200" cy="457200"/>
          </a:xfrm>
          <a:prstGeom prst="ellipse">
            <a:avLst/>
          </a:prstGeom>
          <a:solidFill>
            <a:schemeClr val="accent1"/>
          </a:solidFill>
          <a:ln w="12700">
            <a:solidFill>
              <a:schemeClr val="accent1"/>
            </a:solidFill>
            <a:prstDash val="solid"/>
          </a:ln>
        </p:spPr>
      </p:sp>
      <p:sp>
        <p:nvSpPr>
          <p:cNvPr id="13" name="Objective 3 text"/>
          <p:cNvSpPr txBox="1"/>
          <p:nvPr/>
        </p:nvSpPr>
        <p:spPr>
          <a:xfrm>
            <a:off x="594360" y="26151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Objective text 3"/>
          <p:cNvSpPr txBox="1"/>
          <p:nvPr/>
        </p:nvSpPr>
        <p:spPr>
          <a:xfrm>
            <a:off x="1280160" y="2560320"/>
            <a:ext cx="7223760" cy="56692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Answer using only that text, and show the sources</a:t>
            </a:r>
            <a:endParaRPr lang="en-US" sz="1600" dirty="0"/>
          </a:p>
        </p:txBody>
      </p:sp>
      <p:sp>
        <p:nvSpPr>
          <p:cNvPr id="15" name="Objective card 4"/>
          <p:cNvSpPr/>
          <p:nvPr/>
        </p:nvSpPr>
        <p:spPr>
          <a:xfrm>
            <a:off x="457200" y="3246120"/>
            <a:ext cx="8229600" cy="566928"/>
          </a:xfrm>
          <a:prstGeom prst="roundRect">
            <a:avLst>
              <a:gd name="adj" fmla="val 19355"/>
            </a:avLst>
          </a:prstGeom>
          <a:solidFill>
            <a:schemeClr val="bg1"/>
          </a:solidFill>
          <a:ln w="9525">
            <a:solidFill>
              <a:schemeClr val="accent2"/>
            </a:solidFill>
            <a:prstDash val="solid"/>
          </a:ln>
        </p:spPr>
      </p:sp>
      <p:sp>
        <p:nvSpPr>
          <p:cNvPr id="16" name="Objective 4 circle"/>
          <p:cNvSpPr/>
          <p:nvPr/>
        </p:nvSpPr>
        <p:spPr>
          <a:xfrm>
            <a:off x="594360" y="3300984"/>
            <a:ext cx="457200" cy="457200"/>
          </a:xfrm>
          <a:prstGeom prst="ellipse">
            <a:avLst/>
          </a:prstGeom>
          <a:solidFill>
            <a:schemeClr val="accent1"/>
          </a:solidFill>
          <a:ln w="12700">
            <a:solidFill>
              <a:schemeClr val="accent1"/>
            </a:solidFill>
            <a:prstDash val="solid"/>
          </a:ln>
        </p:spPr>
      </p:sp>
      <p:sp>
        <p:nvSpPr>
          <p:cNvPr id="17" name="Objective 4 text"/>
          <p:cNvSpPr txBox="1"/>
          <p:nvPr/>
        </p:nvSpPr>
        <p:spPr>
          <a:xfrm>
            <a:off x="594360" y="3300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Objective text 4"/>
          <p:cNvSpPr txBox="1"/>
          <p:nvPr/>
        </p:nvSpPr>
        <p:spPr>
          <a:xfrm>
            <a:off x="1280160" y="3246120"/>
            <a:ext cx="7223760" cy="56692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Show answers in a simple chat screen with documents</a:t>
            </a:r>
            <a:endParaRPr lang="en-US" sz="1600" dirty="0"/>
          </a:p>
        </p:txBody>
      </p:sp>
      <p:sp>
        <p:nvSpPr>
          <p:cNvPr id="19" name="Objective card 5"/>
          <p:cNvSpPr/>
          <p:nvPr/>
        </p:nvSpPr>
        <p:spPr>
          <a:xfrm>
            <a:off x="457200" y="3931920"/>
            <a:ext cx="8229600" cy="566928"/>
          </a:xfrm>
          <a:prstGeom prst="roundRect">
            <a:avLst>
              <a:gd name="adj" fmla="val 19355"/>
            </a:avLst>
          </a:prstGeom>
          <a:solidFill>
            <a:schemeClr val="bg1"/>
          </a:solidFill>
          <a:ln w="9525">
            <a:solidFill>
              <a:schemeClr val="accent2"/>
            </a:solidFill>
            <a:prstDash val="solid"/>
          </a:ln>
        </p:spPr>
      </p:sp>
      <p:sp>
        <p:nvSpPr>
          <p:cNvPr id="20" name="Objective 5 circle"/>
          <p:cNvSpPr/>
          <p:nvPr/>
        </p:nvSpPr>
        <p:spPr>
          <a:xfrm>
            <a:off x="594360" y="3986784"/>
            <a:ext cx="457200" cy="457200"/>
          </a:xfrm>
          <a:prstGeom prst="ellipse">
            <a:avLst/>
          </a:prstGeom>
          <a:solidFill>
            <a:schemeClr val="accent1"/>
          </a:solidFill>
          <a:ln w="12700">
            <a:solidFill>
              <a:schemeClr val="accent1"/>
            </a:solidFill>
            <a:prstDash val="solid"/>
          </a:ln>
        </p:spPr>
      </p:sp>
      <p:sp>
        <p:nvSpPr>
          <p:cNvPr id="21" name="Objective 5 text"/>
          <p:cNvSpPr txBox="1"/>
          <p:nvPr/>
        </p:nvSpPr>
        <p:spPr>
          <a:xfrm>
            <a:off x="594360" y="39867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Objective text 5"/>
          <p:cNvSpPr txBox="1"/>
          <p:nvPr/>
        </p:nvSpPr>
        <p:spPr>
          <a:xfrm>
            <a:off x="1280160" y="3931920"/>
            <a:ext cx="7223760" cy="56692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Test the accuracy with a fixed list of questions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Our solution: RAG in simple words</a:t>
            </a:r>
            <a:endParaRPr lang="en-US" sz="3200" dirty="0"/>
          </a:p>
        </p:txBody>
      </p:sp>
      <p:sp>
        <p:nvSpPr>
          <p:cNvPr id="3" name="RAG card 1"/>
          <p:cNvSpPr/>
          <p:nvPr/>
        </p:nvSpPr>
        <p:spPr>
          <a:xfrm>
            <a:off x="457200" y="1325880"/>
            <a:ext cx="2377440" cy="2103120"/>
          </a:xfrm>
          <a:prstGeom prst="roundRect">
            <a:avLst>
              <a:gd name="adj" fmla="val 5217"/>
            </a:avLst>
          </a:prstGeom>
          <a:solidFill>
            <a:schemeClr val="bg1"/>
          </a:solidFill>
          <a:ln w="9525">
            <a:solidFill>
              <a:schemeClr val="accent2"/>
            </a:solidFill>
            <a:prstDash val="solid"/>
          </a:ln>
        </p:spPr>
      </p:sp>
      <p:sp>
        <p:nvSpPr>
          <p:cNvPr id="4" name="RAG 1 circle"/>
          <p:cNvSpPr/>
          <p:nvPr/>
        </p:nvSpPr>
        <p:spPr>
          <a:xfrm>
            <a:off x="640080" y="1508760"/>
            <a:ext cx="457200" cy="457200"/>
          </a:xfrm>
          <a:prstGeom prst="ellipse">
            <a:avLst/>
          </a:prstGeom>
          <a:solidFill>
            <a:schemeClr val="accent1"/>
          </a:solidFill>
          <a:ln w="12700">
            <a:solidFill>
              <a:schemeClr val="accent1"/>
            </a:solidFill>
            <a:prstDash val="solid"/>
          </a:ln>
        </p:spPr>
      </p:sp>
      <p:sp>
        <p:nvSpPr>
          <p:cNvPr id="5" name="RAG 1 text"/>
          <p:cNvSpPr txBox="1"/>
          <p:nvPr/>
        </p:nvSpPr>
        <p:spPr>
          <a:xfrm>
            <a:off x="64008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RAG title 1"/>
          <p:cNvSpPr txBox="1"/>
          <p:nvPr/>
        </p:nvSpPr>
        <p:spPr>
          <a:xfrm>
            <a:off x="640080" y="2103120"/>
            <a:ext cx="20116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Question</a:t>
            </a:r>
            <a:endParaRPr lang="en-US" sz="1800" dirty="0"/>
          </a:p>
        </p:txBody>
      </p:sp>
      <p:sp>
        <p:nvSpPr>
          <p:cNvPr id="7" name="RAG text 1"/>
          <p:cNvSpPr txBox="1"/>
          <p:nvPr/>
        </p:nvSpPr>
        <p:spPr>
          <a:xfrm>
            <a:off x="640080" y="2514600"/>
            <a:ext cx="20116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student types it in plain English</a:t>
            </a:r>
            <a:endParaRPr lang="en-US" sz="1400" dirty="0"/>
          </a:p>
        </p:txBody>
      </p:sp>
      <p:sp>
        <p:nvSpPr>
          <p:cNvPr id="8" name="Arrow 1"/>
          <p:cNvSpPr/>
          <p:nvPr/>
        </p:nvSpPr>
        <p:spPr>
          <a:xfrm>
            <a:off x="2907792" y="2194560"/>
            <a:ext cx="402336" cy="365760"/>
          </a:xfrm>
          <a:prstGeom prst="rightArrow">
            <a:avLst/>
          </a:prstGeom>
          <a:solidFill>
            <a:schemeClr val="accent1"/>
          </a:solidFill>
          <a:ln w="12700">
            <a:solidFill>
              <a:schemeClr val="accent1"/>
            </a:solidFill>
            <a:prstDash val="solid"/>
          </a:ln>
        </p:spPr>
      </p:sp>
      <p:sp>
        <p:nvSpPr>
          <p:cNvPr id="9" name="RAG card 2"/>
          <p:cNvSpPr/>
          <p:nvPr/>
        </p:nvSpPr>
        <p:spPr>
          <a:xfrm>
            <a:off x="3383280" y="1325880"/>
            <a:ext cx="2377440" cy="2103120"/>
          </a:xfrm>
          <a:prstGeom prst="roundRect">
            <a:avLst>
              <a:gd name="adj" fmla="val 5217"/>
            </a:avLst>
          </a:prstGeom>
          <a:solidFill>
            <a:schemeClr val="bg1"/>
          </a:solidFill>
          <a:ln w="9525">
            <a:solidFill>
              <a:schemeClr val="accent2"/>
            </a:solidFill>
            <a:prstDash val="solid"/>
          </a:ln>
        </p:spPr>
      </p:sp>
      <p:sp>
        <p:nvSpPr>
          <p:cNvPr id="10" name="RAG 2 circle"/>
          <p:cNvSpPr/>
          <p:nvPr/>
        </p:nvSpPr>
        <p:spPr>
          <a:xfrm>
            <a:off x="3566160" y="1508760"/>
            <a:ext cx="457200" cy="457200"/>
          </a:xfrm>
          <a:prstGeom prst="ellipse">
            <a:avLst/>
          </a:prstGeom>
          <a:solidFill>
            <a:schemeClr val="accent1"/>
          </a:solidFill>
          <a:ln w="12700">
            <a:solidFill>
              <a:schemeClr val="accent1"/>
            </a:solidFill>
            <a:prstDash val="solid"/>
          </a:ln>
        </p:spPr>
      </p:sp>
      <p:sp>
        <p:nvSpPr>
          <p:cNvPr id="11" name="RAG 2 text"/>
          <p:cNvSpPr txBox="1"/>
          <p:nvPr/>
        </p:nvSpPr>
        <p:spPr>
          <a:xfrm>
            <a:off x="356616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RAG title 2"/>
          <p:cNvSpPr txBox="1"/>
          <p:nvPr/>
        </p:nvSpPr>
        <p:spPr>
          <a:xfrm>
            <a:off x="3566160" y="2103120"/>
            <a:ext cx="20116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Find the text</a:t>
            </a:r>
            <a:endParaRPr lang="en-US" sz="1800" dirty="0"/>
          </a:p>
        </p:txBody>
      </p:sp>
      <p:sp>
        <p:nvSpPr>
          <p:cNvPr id="13" name="RAG text 2"/>
          <p:cNvSpPr txBox="1"/>
          <p:nvPr/>
        </p:nvSpPr>
        <p:spPr>
          <a:xfrm>
            <a:off x="3566160" y="2514600"/>
            <a:ext cx="20116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Search the college data by meaning and by keywords</a:t>
            </a:r>
            <a:endParaRPr lang="en-US" sz="1400" dirty="0"/>
          </a:p>
        </p:txBody>
      </p:sp>
      <p:sp>
        <p:nvSpPr>
          <p:cNvPr id="14" name="Arrow 2"/>
          <p:cNvSpPr/>
          <p:nvPr/>
        </p:nvSpPr>
        <p:spPr>
          <a:xfrm>
            <a:off x="5833872" y="2194560"/>
            <a:ext cx="402336" cy="365760"/>
          </a:xfrm>
          <a:prstGeom prst="rightArrow">
            <a:avLst/>
          </a:prstGeom>
          <a:solidFill>
            <a:schemeClr val="accent1"/>
          </a:solidFill>
          <a:ln w="12700">
            <a:solidFill>
              <a:schemeClr val="accent1"/>
            </a:solidFill>
            <a:prstDash val="solid"/>
          </a:ln>
        </p:spPr>
      </p:sp>
      <p:sp>
        <p:nvSpPr>
          <p:cNvPr id="15" name="RAG card 3"/>
          <p:cNvSpPr/>
          <p:nvPr/>
        </p:nvSpPr>
        <p:spPr>
          <a:xfrm>
            <a:off x="6309360" y="1325880"/>
            <a:ext cx="2377440" cy="2103120"/>
          </a:xfrm>
          <a:prstGeom prst="roundRect">
            <a:avLst>
              <a:gd name="adj" fmla="val 5217"/>
            </a:avLst>
          </a:prstGeom>
          <a:solidFill>
            <a:schemeClr val="bg1"/>
          </a:solidFill>
          <a:ln w="9525">
            <a:solidFill>
              <a:schemeClr val="accent2"/>
            </a:solidFill>
            <a:prstDash val="solid"/>
          </a:ln>
        </p:spPr>
      </p:sp>
      <p:sp>
        <p:nvSpPr>
          <p:cNvPr id="16" name="RAG 3 circle"/>
          <p:cNvSpPr/>
          <p:nvPr/>
        </p:nvSpPr>
        <p:spPr>
          <a:xfrm>
            <a:off x="6492240" y="1508760"/>
            <a:ext cx="457200" cy="457200"/>
          </a:xfrm>
          <a:prstGeom prst="ellipse">
            <a:avLst/>
          </a:prstGeom>
          <a:solidFill>
            <a:schemeClr val="accent1"/>
          </a:solidFill>
          <a:ln w="12700">
            <a:solidFill>
              <a:schemeClr val="accent1"/>
            </a:solidFill>
            <a:prstDash val="solid"/>
          </a:ln>
        </p:spPr>
      </p:sp>
      <p:sp>
        <p:nvSpPr>
          <p:cNvPr id="17" name="RAG 3 text"/>
          <p:cNvSpPr txBox="1"/>
          <p:nvPr/>
        </p:nvSpPr>
        <p:spPr>
          <a:xfrm>
            <a:off x="6492240" y="1508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RAG title 3"/>
          <p:cNvSpPr txBox="1"/>
          <p:nvPr/>
        </p:nvSpPr>
        <p:spPr>
          <a:xfrm>
            <a:off x="6492240" y="2103120"/>
            <a:ext cx="201168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Write the answer</a:t>
            </a:r>
            <a:endParaRPr lang="en-US" sz="1800" dirty="0"/>
          </a:p>
        </p:txBody>
      </p:sp>
      <p:sp>
        <p:nvSpPr>
          <p:cNvPr id="19" name="RAG text 3"/>
          <p:cNvSpPr txBox="1"/>
          <p:nvPr/>
        </p:nvSpPr>
        <p:spPr>
          <a:xfrm>
            <a:off x="6492240" y="2514600"/>
            <a:ext cx="201168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Gemini answers only from that text and shows sources</a:t>
            </a:r>
            <a:endParaRPr lang="en-US" sz="1400" dirty="0"/>
          </a:p>
        </p:txBody>
      </p:sp>
      <p:sp>
        <p:nvSpPr>
          <p:cNvPr id="20" name="Key idea"/>
          <p:cNvSpPr txBox="1"/>
          <p:nvPr/>
        </p:nvSpPr>
        <p:spPr>
          <a:xfrm>
            <a:off x="457200" y="3840480"/>
            <a:ext cx="8229600" cy="548640"/>
          </a:xfrm>
          <a:prstGeom prst="rect">
            <a:avLst/>
          </a:prstGeom>
          <a:noFill/>
          <a:ln/>
        </p:spPr>
        <p:txBody>
          <a:bodyPr wrap="square" lIns="0" tIns="0" rIns="0" bIns="0" rtlCol="0" anchor="ctr"/>
          <a:lstStyle/>
          <a:p>
            <a:pPr algn="l" indent="0" marL="0">
              <a:buNone/>
            </a:pPr>
            <a:r>
              <a:rPr lang="en-US" sz="2000" i="1" dirty="0">
                <a:solidFill>
                  <a:schemeClr val="accent1"/>
                </a:solidFill>
                <a:latin typeface="Cambria" pitchFamily="34" charset="0"/>
                <a:ea typeface="Cambria" pitchFamily="34" charset="-122"/>
                <a:cs typeface="Cambria" pitchFamily="34" charset="-120"/>
              </a:rPr>
              <a:t>No guessing: if the text is not there, the system says it cannot answer.</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System architecture</a:t>
            </a:r>
            <a:endParaRPr lang="en-US" sz="3200" dirty="0"/>
          </a:p>
        </p:txBody>
      </p:sp>
      <p:sp>
        <p:nvSpPr>
          <p:cNvPr id="3" name="Screen box"/>
          <p:cNvSpPr/>
          <p:nvPr/>
        </p:nvSpPr>
        <p:spPr>
          <a:xfrm>
            <a:off x="457200" y="1143000"/>
            <a:ext cx="4572000" cy="640080"/>
          </a:xfrm>
          <a:prstGeom prst="roundRect">
            <a:avLst>
              <a:gd name="adj" fmla="val 14286"/>
            </a:avLst>
          </a:prstGeom>
          <a:solidFill>
            <a:schemeClr val="bg1"/>
          </a:solidFill>
          <a:ln w="9525">
            <a:solidFill>
              <a:schemeClr val="accent2"/>
            </a:solidFill>
            <a:prstDash val="solid"/>
          </a:ln>
        </p:spPr>
      </p:sp>
      <p:sp>
        <p:nvSpPr>
          <p:cNvPr id="4" name="Screen text"/>
          <p:cNvSpPr txBox="1"/>
          <p:nvPr/>
        </p:nvSpPr>
        <p:spPr>
          <a:xfrm>
            <a:off x="457200" y="1143000"/>
            <a:ext cx="4572000" cy="64008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mbria" pitchFamily="34" charset="0"/>
                <a:ea typeface="Cambria" pitchFamily="34" charset="-122"/>
                <a:cs typeface="Cambria" pitchFamily="34" charset="-120"/>
              </a:rPr>
              <a:t>Chat screen (React)</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Student asks, reads answers, opens documents</a:t>
            </a:r>
            <a:endParaRPr lang="en-US" sz="1400" dirty="0"/>
          </a:p>
        </p:txBody>
      </p:sp>
      <p:sp>
        <p:nvSpPr>
          <p:cNvPr id="5" name="Arrow 1"/>
          <p:cNvSpPr/>
          <p:nvPr/>
        </p:nvSpPr>
        <p:spPr>
          <a:xfrm>
            <a:off x="2606040" y="1810512"/>
            <a:ext cx="274320" cy="274320"/>
          </a:xfrm>
          <a:prstGeom prst="downArrow">
            <a:avLst/>
          </a:prstGeom>
          <a:solidFill>
            <a:schemeClr val="accent1"/>
          </a:solidFill>
          <a:ln w="12700">
            <a:solidFill>
              <a:schemeClr val="accent1"/>
            </a:solidFill>
            <a:prstDash val="solid"/>
          </a:ln>
        </p:spPr>
      </p:sp>
      <p:sp>
        <p:nvSpPr>
          <p:cNvPr id="6" name="Backend box"/>
          <p:cNvSpPr/>
          <p:nvPr/>
        </p:nvSpPr>
        <p:spPr>
          <a:xfrm>
            <a:off x="457200" y="2103120"/>
            <a:ext cx="4572000" cy="731520"/>
          </a:xfrm>
          <a:prstGeom prst="roundRect">
            <a:avLst>
              <a:gd name="adj" fmla="val 12500"/>
            </a:avLst>
          </a:prstGeom>
          <a:solidFill>
            <a:schemeClr val="tx1"/>
          </a:solidFill>
          <a:ln w="9525">
            <a:solidFill>
              <a:schemeClr val="accent2"/>
            </a:solidFill>
            <a:prstDash val="solid"/>
          </a:ln>
        </p:spPr>
      </p:sp>
      <p:sp>
        <p:nvSpPr>
          <p:cNvPr id="7" name="Backend text"/>
          <p:cNvSpPr txBox="1"/>
          <p:nvPr/>
        </p:nvSpPr>
        <p:spPr>
          <a:xfrm>
            <a:off x="457200" y="2103120"/>
            <a:ext cx="4572000" cy="731520"/>
          </a:xfrm>
          <a:prstGeom prst="rect">
            <a:avLst/>
          </a:prstGeom>
          <a:noFill/>
          <a:ln/>
        </p:spPr>
        <p:txBody>
          <a:bodyPr wrap="square" lIns="635" tIns="635" rIns="635" bIns="635" rtlCol="0" anchor="ctr"/>
          <a:lstStyle/>
          <a:p>
            <a:pPr algn="ctr" indent="0" marL="0">
              <a:buNone/>
            </a:pPr>
            <a:r>
              <a:rPr lang="en-US" sz="1400" b="1" dirty="0">
                <a:solidFill>
                  <a:srgbClr val="F4F2EA"/>
                </a:solidFill>
                <a:latin typeface="Cambria" pitchFamily="34" charset="0"/>
                <a:ea typeface="Cambria" pitchFamily="34" charset="-122"/>
                <a:cs typeface="Cambria" pitchFamily="34" charset="-120"/>
              </a:rPr>
              <a:t>Backend (NestJS)</a:t>
            </a:r>
            <a:endParaRPr lang="en-US" sz="1400" dirty="0"/>
          </a:p>
          <a:p>
            <a:pPr algn="ctr" indent="0" marL="0">
              <a:buNone/>
            </a:pPr>
            <a:r>
              <a:rPr lang="en-US" sz="1200" dirty="0">
                <a:solidFill>
                  <a:srgbClr val="F4F2EA"/>
                </a:solidFill>
                <a:latin typeface="Calibri" pitchFamily="34" charset="0"/>
                <a:ea typeface="Calibri" pitchFamily="34" charset="-122"/>
                <a:cs typeface="Calibri" pitchFamily="34" charset="-120"/>
              </a:rPr>
              <a:t>Searches, builds the prompt, streams the answer</a:t>
            </a:r>
            <a:endParaRPr lang="en-US" sz="1400" dirty="0"/>
          </a:p>
        </p:txBody>
      </p:sp>
      <p:sp>
        <p:nvSpPr>
          <p:cNvPr id="8" name="Arrow 2"/>
          <p:cNvSpPr/>
          <p:nvPr/>
        </p:nvSpPr>
        <p:spPr>
          <a:xfrm>
            <a:off x="2606040" y="2862072"/>
            <a:ext cx="274320" cy="274320"/>
          </a:xfrm>
          <a:prstGeom prst="downArrow">
            <a:avLst/>
          </a:prstGeom>
          <a:solidFill>
            <a:schemeClr val="accent1"/>
          </a:solidFill>
          <a:ln w="12700">
            <a:solidFill>
              <a:schemeClr val="accent1"/>
            </a:solidFill>
            <a:prstDash val="solid"/>
          </a:ln>
        </p:spPr>
      </p:sp>
      <p:sp>
        <p:nvSpPr>
          <p:cNvPr id="9" name="Service 1 box"/>
          <p:cNvSpPr/>
          <p:nvPr/>
        </p:nvSpPr>
        <p:spPr>
          <a:xfrm>
            <a:off x="457200" y="3200400"/>
            <a:ext cx="1463040" cy="731520"/>
          </a:xfrm>
          <a:prstGeom prst="roundRect">
            <a:avLst>
              <a:gd name="adj" fmla="val 12500"/>
            </a:avLst>
          </a:prstGeom>
          <a:solidFill>
            <a:schemeClr val="bg1"/>
          </a:solidFill>
          <a:ln w="9525">
            <a:solidFill>
              <a:schemeClr val="accent2"/>
            </a:solidFill>
            <a:prstDash val="solid"/>
          </a:ln>
        </p:spPr>
      </p:sp>
      <p:sp>
        <p:nvSpPr>
          <p:cNvPr id="10" name="Service 1 text"/>
          <p:cNvSpPr txBox="1"/>
          <p:nvPr/>
        </p:nvSpPr>
        <p:spPr>
          <a:xfrm>
            <a:off x="457200" y="3200400"/>
            <a:ext cx="146304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mbria" pitchFamily="34" charset="0"/>
                <a:ea typeface="Cambria" pitchFamily="34" charset="-122"/>
                <a:cs typeface="Cambria" pitchFamily="34" charset="-120"/>
              </a:rPr>
              <a:t>Voyage AI</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text to numbers</a:t>
            </a:r>
            <a:endParaRPr lang="en-US" sz="1400" dirty="0"/>
          </a:p>
        </p:txBody>
      </p:sp>
      <p:sp>
        <p:nvSpPr>
          <p:cNvPr id="11" name="Service 2 box"/>
          <p:cNvSpPr/>
          <p:nvPr/>
        </p:nvSpPr>
        <p:spPr>
          <a:xfrm>
            <a:off x="2011680" y="3200400"/>
            <a:ext cx="1463040" cy="731520"/>
          </a:xfrm>
          <a:prstGeom prst="roundRect">
            <a:avLst>
              <a:gd name="adj" fmla="val 12500"/>
            </a:avLst>
          </a:prstGeom>
          <a:solidFill>
            <a:schemeClr val="bg1"/>
          </a:solidFill>
          <a:ln w="9525">
            <a:solidFill>
              <a:schemeClr val="accent2"/>
            </a:solidFill>
            <a:prstDash val="solid"/>
          </a:ln>
        </p:spPr>
      </p:sp>
      <p:sp>
        <p:nvSpPr>
          <p:cNvPr id="12" name="Service 2 text"/>
          <p:cNvSpPr txBox="1"/>
          <p:nvPr/>
        </p:nvSpPr>
        <p:spPr>
          <a:xfrm>
            <a:off x="2011680" y="3200400"/>
            <a:ext cx="146304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mbria" pitchFamily="34" charset="0"/>
                <a:ea typeface="Cambria" pitchFamily="34" charset="-122"/>
                <a:cs typeface="Cambria" pitchFamily="34" charset="-120"/>
              </a:rPr>
              <a:t>Pinecone</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database</a:t>
            </a:r>
            <a:endParaRPr lang="en-US" sz="1400" dirty="0"/>
          </a:p>
        </p:txBody>
      </p:sp>
      <p:sp>
        <p:nvSpPr>
          <p:cNvPr id="13" name="Service 3 box"/>
          <p:cNvSpPr/>
          <p:nvPr/>
        </p:nvSpPr>
        <p:spPr>
          <a:xfrm>
            <a:off x="3566160" y="3200400"/>
            <a:ext cx="1463040" cy="731520"/>
          </a:xfrm>
          <a:prstGeom prst="roundRect">
            <a:avLst>
              <a:gd name="adj" fmla="val 12500"/>
            </a:avLst>
          </a:prstGeom>
          <a:solidFill>
            <a:schemeClr val="bg1"/>
          </a:solidFill>
          <a:ln w="9525">
            <a:solidFill>
              <a:schemeClr val="accent2"/>
            </a:solidFill>
            <a:prstDash val="solid"/>
          </a:ln>
        </p:spPr>
      </p:sp>
      <p:sp>
        <p:nvSpPr>
          <p:cNvPr id="14" name="Service 3 text"/>
          <p:cNvSpPr txBox="1"/>
          <p:nvPr/>
        </p:nvSpPr>
        <p:spPr>
          <a:xfrm>
            <a:off x="3566160" y="3200400"/>
            <a:ext cx="1463040" cy="73152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mbria" pitchFamily="34" charset="0"/>
                <a:ea typeface="Cambria" pitchFamily="34" charset="-122"/>
                <a:cs typeface="Cambria" pitchFamily="34" charset="-120"/>
              </a:rPr>
              <a:t>Google Gemini</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writes answers</a:t>
            </a:r>
            <a:endParaRPr lang="en-US" sz="1400" dirty="0"/>
          </a:p>
        </p:txBody>
      </p:sp>
      <p:sp>
        <p:nvSpPr>
          <p:cNvPr id="15" name="Indexing box"/>
          <p:cNvSpPr/>
          <p:nvPr/>
        </p:nvSpPr>
        <p:spPr>
          <a:xfrm>
            <a:off x="457200" y="4114800"/>
            <a:ext cx="4572000" cy="594360"/>
          </a:xfrm>
          <a:prstGeom prst="roundRect">
            <a:avLst>
              <a:gd name="adj" fmla="val 15385"/>
            </a:avLst>
          </a:prstGeom>
          <a:solidFill>
            <a:schemeClr val="accent2"/>
          </a:solidFill>
          <a:ln w="9525">
            <a:solidFill>
              <a:schemeClr val="accent2"/>
            </a:solidFill>
            <a:prstDash val="solid"/>
          </a:ln>
        </p:spPr>
      </p:sp>
      <p:sp>
        <p:nvSpPr>
          <p:cNvPr id="16" name="Indexing text"/>
          <p:cNvSpPr txBox="1"/>
          <p:nvPr/>
        </p:nvSpPr>
        <p:spPr>
          <a:xfrm>
            <a:off x="457200" y="4114800"/>
            <a:ext cx="4572000" cy="594360"/>
          </a:xfrm>
          <a:prstGeom prst="rect">
            <a:avLst/>
          </a:prstGeom>
          <a:noFill/>
          <a:ln/>
        </p:spPr>
        <p:txBody>
          <a:bodyPr wrap="square" lIns="635" tIns="635" rIns="635" bIns="635" rtlCol="0" anchor="ctr"/>
          <a:lstStyle/>
          <a:p>
            <a:pPr algn="ctr" indent="0" marL="0">
              <a:buNone/>
            </a:pPr>
            <a:r>
              <a:rPr lang="en-US" sz="1400" b="1" dirty="0">
                <a:solidFill>
                  <a:schemeClr val="tx1"/>
                </a:solidFill>
                <a:latin typeface="Cambria" pitchFamily="34" charset="0"/>
                <a:ea typeface="Cambria" pitchFamily="34" charset="-122"/>
                <a:cs typeface="Cambria" pitchFamily="34" charset="-120"/>
              </a:rPr>
              <a:t>Indexing (done in advance)</a:t>
            </a:r>
            <a:endParaRPr lang="en-US" sz="1400" dirty="0"/>
          </a:p>
          <a:p>
            <a:pPr algn="ctr" indent="0" marL="0">
              <a:buNone/>
            </a:pPr>
            <a:r>
              <a:rPr lang="en-US" sz="1200" dirty="0">
                <a:solidFill>
                  <a:schemeClr val="tx1"/>
                </a:solidFill>
                <a:latin typeface="Calibri" pitchFamily="34" charset="0"/>
                <a:ea typeface="Calibri" pitchFamily="34" charset="-122"/>
                <a:cs typeface="Calibri" pitchFamily="34" charset="-120"/>
              </a:rPr>
              <a:t>Crawler + timetable scraper fill Pinecone</a:t>
            </a:r>
            <a:endParaRPr lang="en-US" sz="1400" dirty="0"/>
          </a:p>
        </p:txBody>
      </p:sp>
      <p:sp>
        <p:nvSpPr>
          <p:cNvPr id="17" name="Architecture notes"/>
          <p:cNvSpPr txBox="1"/>
          <p:nvPr/>
        </p:nvSpPr>
        <p:spPr>
          <a:xfrm>
            <a:off x="5394960" y="1188720"/>
            <a:ext cx="3291840" cy="3383280"/>
          </a:xfrm>
          <a:prstGeom prst="rect">
            <a:avLst/>
          </a:prstGeom>
          <a:noFill/>
          <a:ln/>
        </p:spPr>
        <p:txBody>
          <a:bodyPr wrap="square" lIns="0" tIns="0" rIns="0" bIns="0" rtlCol="0" anchor="t"/>
          <a:lstStyle/>
          <a:p>
            <a:pPr indent="0" marL="0">
              <a:spcAft>
                <a:spcPts val="1400"/>
              </a:spcAft>
              <a:buNone/>
            </a:pPr>
            <a:r>
              <a:rPr lang="en-US" sz="1600" b="1" dirty="0">
                <a:solidFill>
                  <a:schemeClr val="accent1"/>
                </a:solidFill>
                <a:latin typeface="Calibri" pitchFamily="34" charset="0"/>
                <a:ea typeface="Calibri" pitchFamily="34" charset="-122"/>
                <a:cs typeface="Calibri" pitchFamily="34" charset="-120"/>
              </a:rPr>
              <a:t>Screen: </a:t>
            </a:r>
            <a:pPr indent="0" marL="0">
              <a:spcAft>
                <a:spcPts val="1400"/>
              </a:spcAft>
              <a:buNone/>
            </a:pPr>
            <a:r>
              <a:rPr lang="en-US" sz="1600" dirty="0">
                <a:solidFill>
                  <a:schemeClr val="tx1"/>
                </a:solidFill>
                <a:latin typeface="Calibri" pitchFamily="34" charset="0"/>
                <a:ea typeface="Calibri" pitchFamily="34" charset="-122"/>
                <a:cs typeface="Calibri" pitchFamily="34" charset="-120"/>
              </a:rPr>
              <a:t>React chat app</a:t>
            </a:r>
            <a:endParaRPr lang="en-US" sz="1600" dirty="0"/>
          </a:p>
          <a:p>
            <a:pPr indent="0" marL="0">
              <a:spcAft>
                <a:spcPts val="1400"/>
              </a:spcAft>
              <a:buNone/>
            </a:pPr>
            <a:r>
              <a:rPr lang="en-US" sz="1600" b="1" dirty="0">
                <a:solidFill>
                  <a:schemeClr val="accent1"/>
                </a:solidFill>
                <a:latin typeface="Calibri" pitchFamily="34" charset="0"/>
                <a:ea typeface="Calibri" pitchFamily="34" charset="-122"/>
                <a:cs typeface="Calibri" pitchFamily="34" charset="-120"/>
              </a:rPr>
              <a:t>Backend: </a:t>
            </a:r>
            <a:pPr indent="0" marL="0">
              <a:spcAft>
                <a:spcPts val="1400"/>
              </a:spcAft>
              <a:buNone/>
            </a:pPr>
            <a:r>
              <a:rPr lang="en-US" sz="1600" dirty="0">
                <a:solidFill>
                  <a:schemeClr val="tx1"/>
                </a:solidFill>
                <a:latin typeface="Calibri" pitchFamily="34" charset="0"/>
                <a:ea typeface="Calibri" pitchFamily="34" charset="-122"/>
                <a:cs typeface="Calibri" pitchFamily="34" charset="-120"/>
              </a:rPr>
              <a:t>finds the best text and asks Gemini</a:t>
            </a:r>
            <a:endParaRPr lang="en-US" sz="1600" dirty="0"/>
          </a:p>
          <a:p>
            <a:pPr indent="0" marL="0">
              <a:spcAft>
                <a:spcPts val="1400"/>
              </a:spcAft>
              <a:buNone/>
            </a:pPr>
            <a:r>
              <a:rPr lang="en-US" sz="1600" b="1" dirty="0">
                <a:solidFill>
                  <a:schemeClr val="accent1"/>
                </a:solidFill>
                <a:latin typeface="Calibri" pitchFamily="34" charset="0"/>
                <a:ea typeface="Calibri" pitchFamily="34" charset="-122"/>
                <a:cs typeface="Calibri" pitchFamily="34" charset="-120"/>
              </a:rPr>
              <a:t>Services: </a:t>
            </a:r>
            <a:pPr indent="0" marL="0">
              <a:spcAft>
                <a:spcPts val="1400"/>
              </a:spcAft>
              <a:buNone/>
            </a:pPr>
            <a:r>
              <a:rPr lang="en-US" sz="1600" dirty="0">
                <a:solidFill>
                  <a:schemeClr val="tx1"/>
                </a:solidFill>
                <a:latin typeface="Calibri" pitchFamily="34" charset="0"/>
                <a:ea typeface="Calibri" pitchFamily="34" charset="-122"/>
                <a:cs typeface="Calibri" pitchFamily="34" charset="-120"/>
              </a:rPr>
              <a:t>turn text into numbers, store it, write answers</a:t>
            </a:r>
            <a:endParaRPr lang="en-US" sz="1600" dirty="0"/>
          </a:p>
          <a:p>
            <a:pPr indent="0" marL="0">
              <a:spcAft>
                <a:spcPts val="1400"/>
              </a:spcAft>
              <a:buNone/>
            </a:pPr>
            <a:r>
              <a:rPr lang="en-US" sz="1600" b="1" dirty="0">
                <a:solidFill>
                  <a:schemeClr val="accent1"/>
                </a:solidFill>
                <a:latin typeface="Calibri" pitchFamily="34" charset="0"/>
                <a:ea typeface="Calibri" pitchFamily="34" charset="-122"/>
                <a:cs typeface="Calibri" pitchFamily="34" charset="-120"/>
              </a:rPr>
              <a:t>Indexing: </a:t>
            </a:r>
            <a:pPr indent="0" marL="0">
              <a:spcAft>
                <a:spcPts val="1400"/>
              </a:spcAft>
              <a:buNone/>
            </a:pPr>
            <a:r>
              <a:rPr lang="en-US" sz="1600" dirty="0">
                <a:solidFill>
                  <a:schemeClr val="tx1"/>
                </a:solidFill>
                <a:latin typeface="Calibri" pitchFamily="34" charset="0"/>
                <a:ea typeface="Calibri" pitchFamily="34" charset="-122"/>
                <a:cs typeface="Calibri" pitchFamily="34" charset="-120"/>
              </a:rPr>
              <a:t>prepares the data, so answers are fast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How a question is answered</a:t>
            </a:r>
            <a:endParaRPr lang="en-US" sz="3200" dirty="0"/>
          </a:p>
        </p:txBody>
      </p:sp>
      <p:sp>
        <p:nvSpPr>
          <p:cNvPr id="3" name="Step card 1"/>
          <p:cNvSpPr/>
          <p:nvPr/>
        </p:nvSpPr>
        <p:spPr>
          <a:xfrm>
            <a:off x="457200" y="1371600"/>
            <a:ext cx="1554480" cy="2377440"/>
          </a:xfrm>
          <a:prstGeom prst="roundRect">
            <a:avLst>
              <a:gd name="adj" fmla="val 7059"/>
            </a:avLst>
          </a:prstGeom>
          <a:solidFill>
            <a:schemeClr val="bg1"/>
          </a:solidFill>
          <a:ln w="9525">
            <a:solidFill>
              <a:schemeClr val="accent2"/>
            </a:solidFill>
            <a:prstDash val="solid"/>
          </a:ln>
        </p:spPr>
      </p:sp>
      <p:sp>
        <p:nvSpPr>
          <p:cNvPr id="4" name="Step 1 circle"/>
          <p:cNvSpPr/>
          <p:nvPr/>
        </p:nvSpPr>
        <p:spPr>
          <a:xfrm>
            <a:off x="1005840" y="1554480"/>
            <a:ext cx="457200" cy="457200"/>
          </a:xfrm>
          <a:prstGeom prst="ellipse">
            <a:avLst/>
          </a:prstGeom>
          <a:solidFill>
            <a:schemeClr val="accent1"/>
          </a:solidFill>
          <a:ln w="12700">
            <a:solidFill>
              <a:schemeClr val="accent1"/>
            </a:solidFill>
            <a:prstDash val="solid"/>
          </a:ln>
        </p:spPr>
      </p:sp>
      <p:sp>
        <p:nvSpPr>
          <p:cNvPr id="5" name="Step 1 text"/>
          <p:cNvSpPr txBox="1"/>
          <p:nvPr/>
        </p:nvSpPr>
        <p:spPr>
          <a:xfrm>
            <a:off x="100584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Step title 1"/>
          <p:cNvSpPr txBox="1"/>
          <p:nvPr/>
        </p:nvSpPr>
        <p:spPr>
          <a:xfrm>
            <a:off x="548640" y="2148840"/>
            <a:ext cx="1371600" cy="36576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Ask</a:t>
            </a:r>
            <a:endParaRPr lang="en-US" sz="1800" dirty="0"/>
          </a:p>
        </p:txBody>
      </p:sp>
      <p:sp>
        <p:nvSpPr>
          <p:cNvPr id="7" name="Step text 1"/>
          <p:cNvSpPr txBox="1"/>
          <p:nvPr/>
        </p:nvSpPr>
        <p:spPr>
          <a:xfrm>
            <a:off x="566928" y="2560320"/>
            <a:ext cx="1335024"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Student types a question</a:t>
            </a:r>
            <a:endParaRPr lang="en-US" sz="1400" dirty="0"/>
          </a:p>
        </p:txBody>
      </p:sp>
      <p:sp>
        <p:nvSpPr>
          <p:cNvPr id="8" name="Step card 2"/>
          <p:cNvSpPr/>
          <p:nvPr/>
        </p:nvSpPr>
        <p:spPr>
          <a:xfrm>
            <a:off x="2125980" y="1371600"/>
            <a:ext cx="1554480" cy="2377440"/>
          </a:xfrm>
          <a:prstGeom prst="roundRect">
            <a:avLst>
              <a:gd name="adj" fmla="val 7059"/>
            </a:avLst>
          </a:prstGeom>
          <a:solidFill>
            <a:schemeClr val="bg1"/>
          </a:solidFill>
          <a:ln w="9525">
            <a:solidFill>
              <a:schemeClr val="accent2"/>
            </a:solidFill>
            <a:prstDash val="solid"/>
          </a:ln>
        </p:spPr>
      </p:sp>
      <p:sp>
        <p:nvSpPr>
          <p:cNvPr id="9" name="Step 2 circle"/>
          <p:cNvSpPr/>
          <p:nvPr/>
        </p:nvSpPr>
        <p:spPr>
          <a:xfrm>
            <a:off x="2674620" y="1554480"/>
            <a:ext cx="457200" cy="457200"/>
          </a:xfrm>
          <a:prstGeom prst="ellipse">
            <a:avLst/>
          </a:prstGeom>
          <a:solidFill>
            <a:schemeClr val="accent1"/>
          </a:solidFill>
          <a:ln w="12700">
            <a:solidFill>
              <a:schemeClr val="accent1"/>
            </a:solidFill>
            <a:prstDash val="solid"/>
          </a:ln>
        </p:spPr>
      </p:sp>
      <p:sp>
        <p:nvSpPr>
          <p:cNvPr id="10" name="Step 2 text"/>
          <p:cNvSpPr txBox="1"/>
          <p:nvPr/>
        </p:nvSpPr>
        <p:spPr>
          <a:xfrm>
            <a:off x="267462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Step title 2"/>
          <p:cNvSpPr txBox="1"/>
          <p:nvPr/>
        </p:nvSpPr>
        <p:spPr>
          <a:xfrm>
            <a:off x="2217420" y="2148840"/>
            <a:ext cx="1371600" cy="36576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Search</a:t>
            </a:r>
            <a:endParaRPr lang="en-US" sz="1800" dirty="0"/>
          </a:p>
        </p:txBody>
      </p:sp>
      <p:sp>
        <p:nvSpPr>
          <p:cNvPr id="12" name="Step text 2"/>
          <p:cNvSpPr txBox="1"/>
          <p:nvPr/>
        </p:nvSpPr>
        <p:spPr>
          <a:xfrm>
            <a:off x="2235708" y="2560320"/>
            <a:ext cx="1335024"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By meaning and by keywords</a:t>
            </a:r>
            <a:endParaRPr lang="en-US" sz="1400" dirty="0"/>
          </a:p>
        </p:txBody>
      </p:sp>
      <p:sp>
        <p:nvSpPr>
          <p:cNvPr id="13" name="Step card 3"/>
          <p:cNvSpPr/>
          <p:nvPr/>
        </p:nvSpPr>
        <p:spPr>
          <a:xfrm>
            <a:off x="3794760" y="1371600"/>
            <a:ext cx="1554480" cy="2377440"/>
          </a:xfrm>
          <a:prstGeom prst="roundRect">
            <a:avLst>
              <a:gd name="adj" fmla="val 7059"/>
            </a:avLst>
          </a:prstGeom>
          <a:solidFill>
            <a:schemeClr val="bg1"/>
          </a:solidFill>
          <a:ln w="9525">
            <a:solidFill>
              <a:schemeClr val="accent2"/>
            </a:solidFill>
            <a:prstDash val="solid"/>
          </a:ln>
        </p:spPr>
      </p:sp>
      <p:sp>
        <p:nvSpPr>
          <p:cNvPr id="14" name="Step 3 circle"/>
          <p:cNvSpPr/>
          <p:nvPr/>
        </p:nvSpPr>
        <p:spPr>
          <a:xfrm>
            <a:off x="4343400" y="1554480"/>
            <a:ext cx="457200" cy="457200"/>
          </a:xfrm>
          <a:prstGeom prst="ellipse">
            <a:avLst/>
          </a:prstGeom>
          <a:solidFill>
            <a:schemeClr val="accent1"/>
          </a:solidFill>
          <a:ln w="12700">
            <a:solidFill>
              <a:schemeClr val="accent1"/>
            </a:solidFill>
            <a:prstDash val="solid"/>
          </a:ln>
        </p:spPr>
      </p:sp>
      <p:sp>
        <p:nvSpPr>
          <p:cNvPr id="15" name="Step 3 text"/>
          <p:cNvSpPr txBox="1"/>
          <p:nvPr/>
        </p:nvSpPr>
        <p:spPr>
          <a:xfrm>
            <a:off x="434340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Step title 3"/>
          <p:cNvSpPr txBox="1"/>
          <p:nvPr/>
        </p:nvSpPr>
        <p:spPr>
          <a:xfrm>
            <a:off x="3886200" y="2148840"/>
            <a:ext cx="1371600" cy="36576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Merge</a:t>
            </a:r>
            <a:endParaRPr lang="en-US" sz="1800" dirty="0"/>
          </a:p>
        </p:txBody>
      </p:sp>
      <p:sp>
        <p:nvSpPr>
          <p:cNvPr id="17" name="Step text 3"/>
          <p:cNvSpPr txBox="1"/>
          <p:nvPr/>
        </p:nvSpPr>
        <p:spPr>
          <a:xfrm>
            <a:off x="3904488" y="2560320"/>
            <a:ext cx="1335024"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Keep the best 16 chunks</a:t>
            </a:r>
            <a:endParaRPr lang="en-US" sz="1400" dirty="0"/>
          </a:p>
        </p:txBody>
      </p:sp>
      <p:sp>
        <p:nvSpPr>
          <p:cNvPr id="18" name="Step card 4"/>
          <p:cNvSpPr/>
          <p:nvPr/>
        </p:nvSpPr>
        <p:spPr>
          <a:xfrm>
            <a:off x="5463540" y="1371600"/>
            <a:ext cx="1554480" cy="2377440"/>
          </a:xfrm>
          <a:prstGeom prst="roundRect">
            <a:avLst>
              <a:gd name="adj" fmla="val 7059"/>
            </a:avLst>
          </a:prstGeom>
          <a:solidFill>
            <a:schemeClr val="bg1"/>
          </a:solidFill>
          <a:ln w="9525">
            <a:solidFill>
              <a:schemeClr val="accent2"/>
            </a:solidFill>
            <a:prstDash val="solid"/>
          </a:ln>
        </p:spPr>
      </p:sp>
      <p:sp>
        <p:nvSpPr>
          <p:cNvPr id="19" name="Step 4 circle"/>
          <p:cNvSpPr/>
          <p:nvPr/>
        </p:nvSpPr>
        <p:spPr>
          <a:xfrm>
            <a:off x="6012180" y="1554480"/>
            <a:ext cx="457200" cy="457200"/>
          </a:xfrm>
          <a:prstGeom prst="ellipse">
            <a:avLst/>
          </a:prstGeom>
          <a:solidFill>
            <a:schemeClr val="accent1"/>
          </a:solidFill>
          <a:ln w="12700">
            <a:solidFill>
              <a:schemeClr val="accent1"/>
            </a:solidFill>
            <a:prstDash val="solid"/>
          </a:ln>
        </p:spPr>
      </p:sp>
      <p:sp>
        <p:nvSpPr>
          <p:cNvPr id="20" name="Step 4 text"/>
          <p:cNvSpPr txBox="1"/>
          <p:nvPr/>
        </p:nvSpPr>
        <p:spPr>
          <a:xfrm>
            <a:off x="601218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Step title 4"/>
          <p:cNvSpPr txBox="1"/>
          <p:nvPr/>
        </p:nvSpPr>
        <p:spPr>
          <a:xfrm>
            <a:off x="5554980" y="2148840"/>
            <a:ext cx="1371600" cy="36576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Answer</a:t>
            </a:r>
            <a:endParaRPr lang="en-US" sz="1800" dirty="0"/>
          </a:p>
        </p:txBody>
      </p:sp>
      <p:sp>
        <p:nvSpPr>
          <p:cNvPr id="22" name="Step text 4"/>
          <p:cNvSpPr txBox="1"/>
          <p:nvPr/>
        </p:nvSpPr>
        <p:spPr>
          <a:xfrm>
            <a:off x="5573268" y="2560320"/>
            <a:ext cx="1335024"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Gemini uses only those chunks</a:t>
            </a:r>
            <a:endParaRPr lang="en-US" sz="1400" dirty="0"/>
          </a:p>
        </p:txBody>
      </p:sp>
      <p:sp>
        <p:nvSpPr>
          <p:cNvPr id="23" name="Step card 5"/>
          <p:cNvSpPr/>
          <p:nvPr/>
        </p:nvSpPr>
        <p:spPr>
          <a:xfrm>
            <a:off x="7132320" y="1371600"/>
            <a:ext cx="1554480" cy="2377440"/>
          </a:xfrm>
          <a:prstGeom prst="roundRect">
            <a:avLst>
              <a:gd name="adj" fmla="val 7059"/>
            </a:avLst>
          </a:prstGeom>
          <a:solidFill>
            <a:schemeClr val="bg1"/>
          </a:solidFill>
          <a:ln w="9525">
            <a:solidFill>
              <a:schemeClr val="accent2"/>
            </a:solidFill>
            <a:prstDash val="solid"/>
          </a:ln>
        </p:spPr>
      </p:sp>
      <p:sp>
        <p:nvSpPr>
          <p:cNvPr id="24" name="Step 5 circle"/>
          <p:cNvSpPr/>
          <p:nvPr/>
        </p:nvSpPr>
        <p:spPr>
          <a:xfrm>
            <a:off x="7680960" y="1554480"/>
            <a:ext cx="457200" cy="457200"/>
          </a:xfrm>
          <a:prstGeom prst="ellipse">
            <a:avLst/>
          </a:prstGeom>
          <a:solidFill>
            <a:schemeClr val="accent1"/>
          </a:solidFill>
          <a:ln w="12700">
            <a:solidFill>
              <a:schemeClr val="accent1"/>
            </a:solidFill>
            <a:prstDash val="solid"/>
          </a:ln>
        </p:spPr>
      </p:sp>
      <p:sp>
        <p:nvSpPr>
          <p:cNvPr id="25" name="Step 5 text"/>
          <p:cNvSpPr txBox="1"/>
          <p:nvPr/>
        </p:nvSpPr>
        <p:spPr>
          <a:xfrm>
            <a:off x="768096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Step title 5"/>
          <p:cNvSpPr txBox="1"/>
          <p:nvPr/>
        </p:nvSpPr>
        <p:spPr>
          <a:xfrm>
            <a:off x="7223760" y="2148840"/>
            <a:ext cx="1371600" cy="36576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Show</a:t>
            </a:r>
            <a:endParaRPr lang="en-US" sz="1800" dirty="0"/>
          </a:p>
        </p:txBody>
      </p:sp>
      <p:sp>
        <p:nvSpPr>
          <p:cNvPr id="27" name="Step text 5"/>
          <p:cNvSpPr txBox="1"/>
          <p:nvPr/>
        </p:nvSpPr>
        <p:spPr>
          <a:xfrm>
            <a:off x="7242048" y="2560320"/>
            <a:ext cx="1335024"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Answer streams in with sources</a:t>
            </a:r>
            <a:endParaRPr lang="en-US" sz="1400" dirty="0"/>
          </a:p>
        </p:txBody>
      </p:sp>
      <p:sp>
        <p:nvSpPr>
          <p:cNvPr id="28" name="Answer time"/>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Typical answer time: 1.5 to 4 seconds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Key features</a:t>
            </a:r>
            <a:endParaRPr lang="en-US" sz="3200" dirty="0"/>
          </a:p>
        </p:txBody>
      </p:sp>
      <p:sp>
        <p:nvSpPr>
          <p:cNvPr id="3" name="Feature card 1"/>
          <p:cNvSpPr/>
          <p:nvPr/>
        </p:nvSpPr>
        <p:spPr>
          <a:xfrm>
            <a:off x="457200" y="1188720"/>
            <a:ext cx="2651760" cy="1554480"/>
          </a:xfrm>
          <a:prstGeom prst="roundRect">
            <a:avLst>
              <a:gd name="adj" fmla="val 7059"/>
            </a:avLst>
          </a:prstGeom>
          <a:solidFill>
            <a:schemeClr val="bg1"/>
          </a:solidFill>
          <a:ln w="9525">
            <a:solidFill>
              <a:schemeClr val="accent2"/>
            </a:solidFill>
            <a:prstDash val="solid"/>
          </a:ln>
        </p:spPr>
      </p:sp>
      <p:sp>
        <p:nvSpPr>
          <p:cNvPr id="4" name="Feature 1 circle"/>
          <p:cNvSpPr/>
          <p:nvPr/>
        </p:nvSpPr>
        <p:spPr>
          <a:xfrm>
            <a:off x="640080" y="1353312"/>
            <a:ext cx="365760" cy="365760"/>
          </a:xfrm>
          <a:prstGeom prst="ellipse">
            <a:avLst/>
          </a:prstGeom>
          <a:solidFill>
            <a:schemeClr val="accent1"/>
          </a:solidFill>
          <a:ln w="12700">
            <a:solidFill>
              <a:schemeClr val="accent1"/>
            </a:solidFill>
            <a:prstDash val="solid"/>
          </a:ln>
        </p:spPr>
      </p:sp>
      <p:sp>
        <p:nvSpPr>
          <p:cNvPr id="5" name="Feature 1 text"/>
          <p:cNvSpPr txBox="1"/>
          <p:nvPr/>
        </p:nvSpPr>
        <p:spPr>
          <a:xfrm>
            <a:off x="640080" y="13533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Feature title 1"/>
          <p:cNvSpPr txBox="1"/>
          <p:nvPr/>
        </p:nvSpPr>
        <p:spPr>
          <a:xfrm>
            <a:off x="1097280" y="132588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Answers with sources</a:t>
            </a:r>
            <a:endParaRPr lang="en-US" sz="1600" dirty="0"/>
          </a:p>
        </p:txBody>
      </p:sp>
      <p:sp>
        <p:nvSpPr>
          <p:cNvPr id="7" name="Feature text 1"/>
          <p:cNvSpPr txBox="1"/>
          <p:nvPr/>
        </p:nvSpPr>
        <p:spPr>
          <a:xfrm>
            <a:off x="640080" y="192024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Every answer shows the pages it used</a:t>
            </a:r>
            <a:endParaRPr lang="en-US" sz="1400" dirty="0"/>
          </a:p>
        </p:txBody>
      </p:sp>
      <p:sp>
        <p:nvSpPr>
          <p:cNvPr id="8" name="Feature card 2"/>
          <p:cNvSpPr/>
          <p:nvPr/>
        </p:nvSpPr>
        <p:spPr>
          <a:xfrm>
            <a:off x="3246120" y="1188720"/>
            <a:ext cx="2651760" cy="1554480"/>
          </a:xfrm>
          <a:prstGeom prst="roundRect">
            <a:avLst>
              <a:gd name="adj" fmla="val 7059"/>
            </a:avLst>
          </a:prstGeom>
          <a:solidFill>
            <a:schemeClr val="bg1"/>
          </a:solidFill>
          <a:ln w="9525">
            <a:solidFill>
              <a:schemeClr val="accent2"/>
            </a:solidFill>
            <a:prstDash val="solid"/>
          </a:ln>
        </p:spPr>
      </p:sp>
      <p:sp>
        <p:nvSpPr>
          <p:cNvPr id="9" name="Feature 2 circle"/>
          <p:cNvSpPr/>
          <p:nvPr/>
        </p:nvSpPr>
        <p:spPr>
          <a:xfrm>
            <a:off x="3429000" y="1353312"/>
            <a:ext cx="365760" cy="365760"/>
          </a:xfrm>
          <a:prstGeom prst="ellipse">
            <a:avLst/>
          </a:prstGeom>
          <a:solidFill>
            <a:schemeClr val="accent1"/>
          </a:solidFill>
          <a:ln w="12700">
            <a:solidFill>
              <a:schemeClr val="accent1"/>
            </a:solidFill>
            <a:prstDash val="solid"/>
          </a:ln>
        </p:spPr>
      </p:sp>
      <p:sp>
        <p:nvSpPr>
          <p:cNvPr id="10" name="Feature 2 text"/>
          <p:cNvSpPr txBox="1"/>
          <p:nvPr/>
        </p:nvSpPr>
        <p:spPr>
          <a:xfrm>
            <a:off x="3429000" y="13533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Feature title 2"/>
          <p:cNvSpPr txBox="1"/>
          <p:nvPr/>
        </p:nvSpPr>
        <p:spPr>
          <a:xfrm>
            <a:off x="3886200" y="132588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Honest refusal</a:t>
            </a:r>
            <a:endParaRPr lang="en-US" sz="1600" dirty="0"/>
          </a:p>
        </p:txBody>
      </p:sp>
      <p:sp>
        <p:nvSpPr>
          <p:cNvPr id="12" name="Feature text 2"/>
          <p:cNvSpPr txBox="1"/>
          <p:nvPr/>
        </p:nvSpPr>
        <p:spPr>
          <a:xfrm>
            <a:off x="3429000" y="192024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Says “I cannot answer this question”</a:t>
            </a:r>
            <a:endParaRPr lang="en-US" sz="1400" dirty="0"/>
          </a:p>
        </p:txBody>
      </p:sp>
      <p:sp>
        <p:nvSpPr>
          <p:cNvPr id="13" name="Feature card 3"/>
          <p:cNvSpPr/>
          <p:nvPr/>
        </p:nvSpPr>
        <p:spPr>
          <a:xfrm>
            <a:off x="6035040" y="1188720"/>
            <a:ext cx="2651760" cy="1554480"/>
          </a:xfrm>
          <a:prstGeom prst="roundRect">
            <a:avLst>
              <a:gd name="adj" fmla="val 7059"/>
            </a:avLst>
          </a:prstGeom>
          <a:solidFill>
            <a:schemeClr val="bg1"/>
          </a:solidFill>
          <a:ln w="9525">
            <a:solidFill>
              <a:schemeClr val="accent2"/>
            </a:solidFill>
            <a:prstDash val="solid"/>
          </a:ln>
        </p:spPr>
      </p:sp>
      <p:sp>
        <p:nvSpPr>
          <p:cNvPr id="14" name="Feature 3 circle"/>
          <p:cNvSpPr/>
          <p:nvPr/>
        </p:nvSpPr>
        <p:spPr>
          <a:xfrm>
            <a:off x="6217920" y="1353312"/>
            <a:ext cx="365760" cy="365760"/>
          </a:xfrm>
          <a:prstGeom prst="ellipse">
            <a:avLst/>
          </a:prstGeom>
          <a:solidFill>
            <a:schemeClr val="accent1"/>
          </a:solidFill>
          <a:ln w="12700">
            <a:solidFill>
              <a:schemeClr val="accent1"/>
            </a:solidFill>
            <a:prstDash val="solid"/>
          </a:ln>
        </p:spPr>
      </p:sp>
      <p:sp>
        <p:nvSpPr>
          <p:cNvPr id="15" name="Feature 3 text"/>
          <p:cNvSpPr txBox="1"/>
          <p:nvPr/>
        </p:nvSpPr>
        <p:spPr>
          <a:xfrm>
            <a:off x="6217920" y="13533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Feature title 3"/>
          <p:cNvSpPr txBox="1"/>
          <p:nvPr/>
        </p:nvSpPr>
        <p:spPr>
          <a:xfrm>
            <a:off x="6675120" y="132588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Documents</a:t>
            </a:r>
            <a:endParaRPr lang="en-US" sz="1600" dirty="0"/>
          </a:p>
        </p:txBody>
      </p:sp>
      <p:sp>
        <p:nvSpPr>
          <p:cNvPr id="17" name="Feature text 3"/>
          <p:cNvSpPr txBox="1"/>
          <p:nvPr/>
        </p:nvSpPr>
        <p:spPr>
          <a:xfrm>
            <a:off x="6217920" y="192024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Open or download timetables and PDFs</a:t>
            </a:r>
            <a:endParaRPr lang="en-US" sz="1400" dirty="0"/>
          </a:p>
        </p:txBody>
      </p:sp>
      <p:sp>
        <p:nvSpPr>
          <p:cNvPr id="18" name="Feature card 4"/>
          <p:cNvSpPr/>
          <p:nvPr/>
        </p:nvSpPr>
        <p:spPr>
          <a:xfrm>
            <a:off x="457200" y="2880360"/>
            <a:ext cx="2651760" cy="1554480"/>
          </a:xfrm>
          <a:prstGeom prst="roundRect">
            <a:avLst>
              <a:gd name="adj" fmla="val 7059"/>
            </a:avLst>
          </a:prstGeom>
          <a:solidFill>
            <a:schemeClr val="bg1"/>
          </a:solidFill>
          <a:ln w="9525">
            <a:solidFill>
              <a:schemeClr val="accent2"/>
            </a:solidFill>
            <a:prstDash val="solid"/>
          </a:ln>
        </p:spPr>
      </p:sp>
      <p:sp>
        <p:nvSpPr>
          <p:cNvPr id="19" name="Feature 4 circle"/>
          <p:cNvSpPr/>
          <p:nvPr/>
        </p:nvSpPr>
        <p:spPr>
          <a:xfrm>
            <a:off x="640080" y="3044952"/>
            <a:ext cx="365760" cy="365760"/>
          </a:xfrm>
          <a:prstGeom prst="ellipse">
            <a:avLst/>
          </a:prstGeom>
          <a:solidFill>
            <a:schemeClr val="accent1"/>
          </a:solidFill>
          <a:ln w="12700">
            <a:solidFill>
              <a:schemeClr val="accent1"/>
            </a:solidFill>
            <a:prstDash val="solid"/>
          </a:ln>
        </p:spPr>
      </p:sp>
      <p:sp>
        <p:nvSpPr>
          <p:cNvPr id="20" name="Feature 4 text"/>
          <p:cNvSpPr txBox="1"/>
          <p:nvPr/>
        </p:nvSpPr>
        <p:spPr>
          <a:xfrm>
            <a:off x="640080" y="3044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Feature title 4"/>
          <p:cNvSpPr txBox="1"/>
          <p:nvPr/>
        </p:nvSpPr>
        <p:spPr>
          <a:xfrm>
            <a:off x="1097280" y="301752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Saved chats</a:t>
            </a:r>
            <a:endParaRPr lang="en-US" sz="1600" dirty="0"/>
          </a:p>
        </p:txBody>
      </p:sp>
      <p:sp>
        <p:nvSpPr>
          <p:cNvPr id="22" name="Feature text 4"/>
          <p:cNvSpPr txBox="1"/>
          <p:nvPr/>
        </p:nvSpPr>
        <p:spPr>
          <a:xfrm>
            <a:off x="640080" y="36118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Kept in the user’s own browser</a:t>
            </a:r>
            <a:endParaRPr lang="en-US" sz="1400" dirty="0"/>
          </a:p>
        </p:txBody>
      </p:sp>
      <p:sp>
        <p:nvSpPr>
          <p:cNvPr id="23" name="Feature card 5"/>
          <p:cNvSpPr/>
          <p:nvPr/>
        </p:nvSpPr>
        <p:spPr>
          <a:xfrm>
            <a:off x="3246120" y="2880360"/>
            <a:ext cx="2651760" cy="1554480"/>
          </a:xfrm>
          <a:prstGeom prst="roundRect">
            <a:avLst>
              <a:gd name="adj" fmla="val 7059"/>
            </a:avLst>
          </a:prstGeom>
          <a:solidFill>
            <a:schemeClr val="bg1"/>
          </a:solidFill>
          <a:ln w="9525">
            <a:solidFill>
              <a:schemeClr val="accent2"/>
            </a:solidFill>
            <a:prstDash val="solid"/>
          </a:ln>
        </p:spPr>
      </p:sp>
      <p:sp>
        <p:nvSpPr>
          <p:cNvPr id="24" name="Feature 5 circle"/>
          <p:cNvSpPr/>
          <p:nvPr/>
        </p:nvSpPr>
        <p:spPr>
          <a:xfrm>
            <a:off x="3429000" y="3044952"/>
            <a:ext cx="365760" cy="365760"/>
          </a:xfrm>
          <a:prstGeom prst="ellipse">
            <a:avLst/>
          </a:prstGeom>
          <a:solidFill>
            <a:schemeClr val="accent1"/>
          </a:solidFill>
          <a:ln w="12700">
            <a:solidFill>
              <a:schemeClr val="accent1"/>
            </a:solidFill>
            <a:prstDash val="solid"/>
          </a:ln>
        </p:spPr>
      </p:sp>
      <p:sp>
        <p:nvSpPr>
          <p:cNvPr id="25" name="Feature 5 text"/>
          <p:cNvSpPr txBox="1"/>
          <p:nvPr/>
        </p:nvSpPr>
        <p:spPr>
          <a:xfrm>
            <a:off x="3429000" y="3044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Feature title 5"/>
          <p:cNvSpPr txBox="1"/>
          <p:nvPr/>
        </p:nvSpPr>
        <p:spPr>
          <a:xfrm>
            <a:off x="3886200" y="301752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Works on phones</a:t>
            </a:r>
            <a:endParaRPr lang="en-US" sz="1600" dirty="0"/>
          </a:p>
        </p:txBody>
      </p:sp>
      <p:sp>
        <p:nvSpPr>
          <p:cNvPr id="27" name="Feature text 5"/>
          <p:cNvSpPr txBox="1"/>
          <p:nvPr/>
        </p:nvSpPr>
        <p:spPr>
          <a:xfrm>
            <a:off x="3429000" y="36118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Simple, responsive chat screen</a:t>
            </a:r>
            <a:endParaRPr lang="en-US" sz="1400" dirty="0"/>
          </a:p>
        </p:txBody>
      </p:sp>
      <p:sp>
        <p:nvSpPr>
          <p:cNvPr id="28" name="Feature card 6"/>
          <p:cNvSpPr/>
          <p:nvPr/>
        </p:nvSpPr>
        <p:spPr>
          <a:xfrm>
            <a:off x="6035040" y="2880360"/>
            <a:ext cx="2651760" cy="1554480"/>
          </a:xfrm>
          <a:prstGeom prst="roundRect">
            <a:avLst>
              <a:gd name="adj" fmla="val 7059"/>
            </a:avLst>
          </a:prstGeom>
          <a:solidFill>
            <a:schemeClr val="bg1"/>
          </a:solidFill>
          <a:ln w="9525">
            <a:solidFill>
              <a:schemeClr val="accent2"/>
            </a:solidFill>
            <a:prstDash val="solid"/>
          </a:ln>
        </p:spPr>
      </p:sp>
      <p:sp>
        <p:nvSpPr>
          <p:cNvPr id="29" name="Feature 6 circle"/>
          <p:cNvSpPr/>
          <p:nvPr/>
        </p:nvSpPr>
        <p:spPr>
          <a:xfrm>
            <a:off x="6217920" y="3044952"/>
            <a:ext cx="365760" cy="365760"/>
          </a:xfrm>
          <a:prstGeom prst="ellipse">
            <a:avLst/>
          </a:prstGeom>
          <a:solidFill>
            <a:schemeClr val="accent1"/>
          </a:solidFill>
          <a:ln w="12700">
            <a:solidFill>
              <a:schemeClr val="accent1"/>
            </a:solidFill>
            <a:prstDash val="solid"/>
          </a:ln>
        </p:spPr>
      </p:sp>
      <p:sp>
        <p:nvSpPr>
          <p:cNvPr id="30" name="Feature 6 text"/>
          <p:cNvSpPr txBox="1"/>
          <p:nvPr/>
        </p:nvSpPr>
        <p:spPr>
          <a:xfrm>
            <a:off x="6217920" y="3044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1" name="Feature title 6"/>
          <p:cNvSpPr txBox="1"/>
          <p:nvPr/>
        </p:nvSpPr>
        <p:spPr>
          <a:xfrm>
            <a:off x="6675120" y="3017520"/>
            <a:ext cx="192024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Keeps working</a:t>
            </a:r>
            <a:endParaRPr lang="en-US" sz="1600" dirty="0"/>
          </a:p>
        </p:txBody>
      </p:sp>
      <p:sp>
        <p:nvSpPr>
          <p:cNvPr id="32" name="Feature text 6"/>
          <p:cNvSpPr txBox="1"/>
          <p:nvPr/>
        </p:nvSpPr>
        <p:spPr>
          <a:xfrm>
            <a:off x="6217920" y="36118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Backup AI models and keyword fallback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Technology stack</a:t>
            </a:r>
            <a:endParaRPr lang="en-US" sz="3200" dirty="0"/>
          </a:p>
        </p:txBody>
      </p:sp>
      <p:sp>
        <p:nvSpPr>
          <p:cNvPr id="3" name="Tech card 1"/>
          <p:cNvSpPr/>
          <p:nvPr/>
        </p:nvSpPr>
        <p:spPr>
          <a:xfrm>
            <a:off x="457200" y="1234440"/>
            <a:ext cx="1920240" cy="1463040"/>
          </a:xfrm>
          <a:prstGeom prst="roundRect">
            <a:avLst>
              <a:gd name="adj" fmla="val 7500"/>
            </a:avLst>
          </a:prstGeom>
          <a:solidFill>
            <a:schemeClr val="bg1"/>
          </a:solidFill>
          <a:ln w="9525">
            <a:solidFill>
              <a:schemeClr val="accent2"/>
            </a:solidFill>
            <a:prstDash val="solid"/>
          </a:ln>
        </p:spPr>
      </p:sp>
      <p:sp>
        <p:nvSpPr>
          <p:cNvPr id="4" name="Tech label 1"/>
          <p:cNvSpPr txBox="1"/>
          <p:nvPr/>
        </p:nvSpPr>
        <p:spPr>
          <a:xfrm>
            <a:off x="594360" y="137160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Backend</a:t>
            </a:r>
            <a:endParaRPr lang="en-US" sz="1200" dirty="0"/>
          </a:p>
        </p:txBody>
      </p:sp>
      <p:sp>
        <p:nvSpPr>
          <p:cNvPr id="5" name="Tech name 1"/>
          <p:cNvSpPr txBox="1"/>
          <p:nvPr/>
        </p:nvSpPr>
        <p:spPr>
          <a:xfrm>
            <a:off x="594360" y="173736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Node.js, NestJS, TypeScript</a:t>
            </a:r>
            <a:endParaRPr lang="en-US" sz="1600" dirty="0"/>
          </a:p>
        </p:txBody>
      </p:sp>
      <p:sp>
        <p:nvSpPr>
          <p:cNvPr id="6" name="Tech card 2"/>
          <p:cNvSpPr/>
          <p:nvPr/>
        </p:nvSpPr>
        <p:spPr>
          <a:xfrm>
            <a:off x="2560320" y="1234440"/>
            <a:ext cx="1920240" cy="1463040"/>
          </a:xfrm>
          <a:prstGeom prst="roundRect">
            <a:avLst>
              <a:gd name="adj" fmla="val 7500"/>
            </a:avLst>
          </a:prstGeom>
          <a:solidFill>
            <a:schemeClr val="bg1"/>
          </a:solidFill>
          <a:ln w="9525">
            <a:solidFill>
              <a:schemeClr val="accent2"/>
            </a:solidFill>
            <a:prstDash val="solid"/>
          </a:ln>
        </p:spPr>
      </p:sp>
      <p:sp>
        <p:nvSpPr>
          <p:cNvPr id="7" name="Tech label 2"/>
          <p:cNvSpPr txBox="1"/>
          <p:nvPr/>
        </p:nvSpPr>
        <p:spPr>
          <a:xfrm>
            <a:off x="2697480" y="137160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Frontend</a:t>
            </a:r>
            <a:endParaRPr lang="en-US" sz="1200" dirty="0"/>
          </a:p>
        </p:txBody>
      </p:sp>
      <p:sp>
        <p:nvSpPr>
          <p:cNvPr id="8" name="Tech name 2"/>
          <p:cNvSpPr txBox="1"/>
          <p:nvPr/>
        </p:nvSpPr>
        <p:spPr>
          <a:xfrm>
            <a:off x="2697480" y="173736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React 19, Vite, Tailwind CSS</a:t>
            </a:r>
            <a:endParaRPr lang="en-US" sz="1600" dirty="0"/>
          </a:p>
        </p:txBody>
      </p:sp>
      <p:sp>
        <p:nvSpPr>
          <p:cNvPr id="9" name="Tech card 3"/>
          <p:cNvSpPr/>
          <p:nvPr/>
        </p:nvSpPr>
        <p:spPr>
          <a:xfrm>
            <a:off x="4663440" y="1234440"/>
            <a:ext cx="1920240" cy="1463040"/>
          </a:xfrm>
          <a:prstGeom prst="roundRect">
            <a:avLst>
              <a:gd name="adj" fmla="val 7500"/>
            </a:avLst>
          </a:prstGeom>
          <a:solidFill>
            <a:schemeClr val="bg1"/>
          </a:solidFill>
          <a:ln w="9525">
            <a:solidFill>
              <a:schemeClr val="accent2"/>
            </a:solidFill>
            <a:prstDash val="solid"/>
          </a:ln>
        </p:spPr>
      </p:sp>
      <p:sp>
        <p:nvSpPr>
          <p:cNvPr id="10" name="Tech label 3"/>
          <p:cNvSpPr txBox="1"/>
          <p:nvPr/>
        </p:nvSpPr>
        <p:spPr>
          <a:xfrm>
            <a:off x="4800600" y="137160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Embeddings</a:t>
            </a:r>
            <a:endParaRPr lang="en-US" sz="1200" dirty="0"/>
          </a:p>
        </p:txBody>
      </p:sp>
      <p:sp>
        <p:nvSpPr>
          <p:cNvPr id="11" name="Tech name 3"/>
          <p:cNvSpPr txBox="1"/>
          <p:nvPr/>
        </p:nvSpPr>
        <p:spPr>
          <a:xfrm>
            <a:off x="4800600" y="173736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Voyage AI</a:t>
            </a:r>
            <a:endParaRPr lang="en-US" sz="1600" dirty="0"/>
          </a:p>
        </p:txBody>
      </p:sp>
      <p:sp>
        <p:nvSpPr>
          <p:cNvPr id="12" name="Tech card 4"/>
          <p:cNvSpPr/>
          <p:nvPr/>
        </p:nvSpPr>
        <p:spPr>
          <a:xfrm>
            <a:off x="6766560" y="1234440"/>
            <a:ext cx="1920240" cy="1463040"/>
          </a:xfrm>
          <a:prstGeom prst="roundRect">
            <a:avLst>
              <a:gd name="adj" fmla="val 7500"/>
            </a:avLst>
          </a:prstGeom>
          <a:solidFill>
            <a:schemeClr val="bg1"/>
          </a:solidFill>
          <a:ln w="9525">
            <a:solidFill>
              <a:schemeClr val="accent2"/>
            </a:solidFill>
            <a:prstDash val="solid"/>
          </a:ln>
        </p:spPr>
      </p:sp>
      <p:sp>
        <p:nvSpPr>
          <p:cNvPr id="13" name="Tech label 4"/>
          <p:cNvSpPr txBox="1"/>
          <p:nvPr/>
        </p:nvSpPr>
        <p:spPr>
          <a:xfrm>
            <a:off x="6903720" y="137160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Database</a:t>
            </a:r>
            <a:endParaRPr lang="en-US" sz="1200" dirty="0"/>
          </a:p>
        </p:txBody>
      </p:sp>
      <p:sp>
        <p:nvSpPr>
          <p:cNvPr id="14" name="Tech name 4"/>
          <p:cNvSpPr txBox="1"/>
          <p:nvPr/>
        </p:nvSpPr>
        <p:spPr>
          <a:xfrm>
            <a:off x="6903720" y="173736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Pinecone</a:t>
            </a:r>
            <a:endParaRPr lang="en-US" sz="1600" dirty="0"/>
          </a:p>
        </p:txBody>
      </p:sp>
      <p:sp>
        <p:nvSpPr>
          <p:cNvPr id="15" name="Tech card 5"/>
          <p:cNvSpPr/>
          <p:nvPr/>
        </p:nvSpPr>
        <p:spPr>
          <a:xfrm>
            <a:off x="457200" y="2880360"/>
            <a:ext cx="1920240" cy="1463040"/>
          </a:xfrm>
          <a:prstGeom prst="roundRect">
            <a:avLst>
              <a:gd name="adj" fmla="val 7500"/>
            </a:avLst>
          </a:prstGeom>
          <a:solidFill>
            <a:schemeClr val="bg1"/>
          </a:solidFill>
          <a:ln w="9525">
            <a:solidFill>
              <a:schemeClr val="accent2"/>
            </a:solidFill>
            <a:prstDash val="solid"/>
          </a:ln>
        </p:spPr>
      </p:sp>
      <p:sp>
        <p:nvSpPr>
          <p:cNvPr id="16" name="Tech label 5"/>
          <p:cNvSpPr txBox="1"/>
          <p:nvPr/>
        </p:nvSpPr>
        <p:spPr>
          <a:xfrm>
            <a:off x="594360" y="301752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AI answers</a:t>
            </a:r>
            <a:endParaRPr lang="en-US" sz="1200" dirty="0"/>
          </a:p>
        </p:txBody>
      </p:sp>
      <p:sp>
        <p:nvSpPr>
          <p:cNvPr id="17" name="Tech name 5"/>
          <p:cNvSpPr txBox="1"/>
          <p:nvPr/>
        </p:nvSpPr>
        <p:spPr>
          <a:xfrm>
            <a:off x="594360" y="338328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Google Gemini</a:t>
            </a:r>
            <a:endParaRPr lang="en-US" sz="1600" dirty="0"/>
          </a:p>
        </p:txBody>
      </p:sp>
      <p:sp>
        <p:nvSpPr>
          <p:cNvPr id="18" name="Tech card 6"/>
          <p:cNvSpPr/>
          <p:nvPr/>
        </p:nvSpPr>
        <p:spPr>
          <a:xfrm>
            <a:off x="2560320" y="2880360"/>
            <a:ext cx="1920240" cy="1463040"/>
          </a:xfrm>
          <a:prstGeom prst="roundRect">
            <a:avLst>
              <a:gd name="adj" fmla="val 7500"/>
            </a:avLst>
          </a:prstGeom>
          <a:solidFill>
            <a:schemeClr val="bg1"/>
          </a:solidFill>
          <a:ln w="9525">
            <a:solidFill>
              <a:schemeClr val="accent2"/>
            </a:solidFill>
            <a:prstDash val="solid"/>
          </a:ln>
        </p:spPr>
      </p:sp>
      <p:sp>
        <p:nvSpPr>
          <p:cNvPr id="19" name="Tech label 6"/>
          <p:cNvSpPr txBox="1"/>
          <p:nvPr/>
        </p:nvSpPr>
        <p:spPr>
          <a:xfrm>
            <a:off x="2697480" y="301752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Keyword search</a:t>
            </a:r>
            <a:endParaRPr lang="en-US" sz="1200" dirty="0"/>
          </a:p>
        </p:txBody>
      </p:sp>
      <p:sp>
        <p:nvSpPr>
          <p:cNvPr id="20" name="Tech name 6"/>
          <p:cNvSpPr txBox="1"/>
          <p:nvPr/>
        </p:nvSpPr>
        <p:spPr>
          <a:xfrm>
            <a:off x="2697480" y="338328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MiniSearch (BM25)</a:t>
            </a:r>
            <a:endParaRPr lang="en-US" sz="1600" dirty="0"/>
          </a:p>
        </p:txBody>
      </p:sp>
      <p:sp>
        <p:nvSpPr>
          <p:cNvPr id="21" name="Tech card 7"/>
          <p:cNvSpPr/>
          <p:nvPr/>
        </p:nvSpPr>
        <p:spPr>
          <a:xfrm>
            <a:off x="4663440" y="2880360"/>
            <a:ext cx="1920240" cy="1463040"/>
          </a:xfrm>
          <a:prstGeom prst="roundRect">
            <a:avLst>
              <a:gd name="adj" fmla="val 7500"/>
            </a:avLst>
          </a:prstGeom>
          <a:solidFill>
            <a:schemeClr val="bg1"/>
          </a:solidFill>
          <a:ln w="9525">
            <a:solidFill>
              <a:schemeClr val="accent2"/>
            </a:solidFill>
            <a:prstDash val="solid"/>
          </a:ln>
        </p:spPr>
      </p:sp>
      <p:sp>
        <p:nvSpPr>
          <p:cNvPr id="22" name="Tech label 7"/>
          <p:cNvSpPr txBox="1"/>
          <p:nvPr/>
        </p:nvSpPr>
        <p:spPr>
          <a:xfrm>
            <a:off x="4800600" y="301752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Testing</a:t>
            </a:r>
            <a:endParaRPr lang="en-US" sz="1200" dirty="0"/>
          </a:p>
        </p:txBody>
      </p:sp>
      <p:sp>
        <p:nvSpPr>
          <p:cNvPr id="23" name="Tech name 7"/>
          <p:cNvSpPr txBox="1"/>
          <p:nvPr/>
        </p:nvSpPr>
        <p:spPr>
          <a:xfrm>
            <a:off x="4800600" y="338328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Vitest, Supertest</a:t>
            </a:r>
            <a:endParaRPr lang="en-US" sz="1600" dirty="0"/>
          </a:p>
        </p:txBody>
      </p:sp>
      <p:sp>
        <p:nvSpPr>
          <p:cNvPr id="24" name="Tech card 8"/>
          <p:cNvSpPr/>
          <p:nvPr/>
        </p:nvSpPr>
        <p:spPr>
          <a:xfrm>
            <a:off x="6766560" y="2880360"/>
            <a:ext cx="1920240" cy="1463040"/>
          </a:xfrm>
          <a:prstGeom prst="roundRect">
            <a:avLst>
              <a:gd name="adj" fmla="val 7500"/>
            </a:avLst>
          </a:prstGeom>
          <a:solidFill>
            <a:schemeClr val="bg1"/>
          </a:solidFill>
          <a:ln w="9525">
            <a:solidFill>
              <a:schemeClr val="accent2"/>
            </a:solidFill>
            <a:prstDash val="solid"/>
          </a:ln>
        </p:spPr>
      </p:sp>
      <p:sp>
        <p:nvSpPr>
          <p:cNvPr id="25" name="Tech label 8"/>
          <p:cNvSpPr txBox="1"/>
          <p:nvPr/>
        </p:nvSpPr>
        <p:spPr>
          <a:xfrm>
            <a:off x="6903720" y="3017520"/>
            <a:ext cx="164592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Hosting</a:t>
            </a:r>
            <a:endParaRPr lang="en-US" sz="1200" dirty="0"/>
          </a:p>
        </p:txBody>
      </p:sp>
      <p:sp>
        <p:nvSpPr>
          <p:cNvPr id="26" name="Tech name 8"/>
          <p:cNvSpPr txBox="1"/>
          <p:nvPr/>
        </p:nvSpPr>
        <p:spPr>
          <a:xfrm>
            <a:off x="6903720" y="3383280"/>
            <a:ext cx="1645920" cy="8686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Render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The knowledge base</a:t>
            </a:r>
            <a:endParaRPr lang="en-US" sz="3200" dirty="0"/>
          </a:p>
        </p:txBody>
      </p:sp>
      <p:sp>
        <p:nvSpPr>
          <p:cNvPr id="3" name="Documents card"/>
          <p:cNvSpPr/>
          <p:nvPr/>
        </p:nvSpPr>
        <p:spPr>
          <a:xfrm>
            <a:off x="457200" y="1188720"/>
            <a:ext cx="3291840" cy="1554480"/>
          </a:xfrm>
          <a:prstGeom prst="roundRect">
            <a:avLst>
              <a:gd name="adj" fmla="val 7059"/>
            </a:avLst>
          </a:prstGeom>
          <a:solidFill>
            <a:schemeClr val="bg1"/>
          </a:solidFill>
          <a:ln w="9525">
            <a:solidFill>
              <a:schemeClr val="accent2"/>
            </a:solidFill>
            <a:prstDash val="solid"/>
          </a:ln>
        </p:spPr>
      </p:sp>
      <p:sp>
        <p:nvSpPr>
          <p:cNvPr id="4" name="Documents number"/>
          <p:cNvSpPr txBox="1"/>
          <p:nvPr/>
        </p:nvSpPr>
        <p:spPr>
          <a:xfrm>
            <a:off x="457200" y="1234440"/>
            <a:ext cx="329184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1,009</a:t>
            </a:r>
            <a:endParaRPr lang="en-US" sz="5400" dirty="0"/>
          </a:p>
        </p:txBody>
      </p:sp>
      <p:sp>
        <p:nvSpPr>
          <p:cNvPr id="5" name="Documents label"/>
          <p:cNvSpPr txBox="1"/>
          <p:nvPr/>
        </p:nvSpPr>
        <p:spPr>
          <a:xfrm>
            <a:off x="457200" y="2148840"/>
            <a:ext cx="3291840" cy="45720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documents collected</a:t>
            </a:r>
            <a:endParaRPr lang="en-US" sz="1600" dirty="0"/>
          </a:p>
        </p:txBody>
      </p:sp>
      <p:sp>
        <p:nvSpPr>
          <p:cNvPr id="6" name="Chunks card"/>
          <p:cNvSpPr/>
          <p:nvPr/>
        </p:nvSpPr>
        <p:spPr>
          <a:xfrm>
            <a:off x="457200" y="2971800"/>
            <a:ext cx="3291840" cy="1554480"/>
          </a:xfrm>
          <a:prstGeom prst="roundRect">
            <a:avLst>
              <a:gd name="adj" fmla="val 7059"/>
            </a:avLst>
          </a:prstGeom>
          <a:solidFill>
            <a:schemeClr val="bg1"/>
          </a:solidFill>
          <a:ln w="9525">
            <a:solidFill>
              <a:schemeClr val="accent2"/>
            </a:solidFill>
            <a:prstDash val="solid"/>
          </a:ln>
        </p:spPr>
      </p:sp>
      <p:sp>
        <p:nvSpPr>
          <p:cNvPr id="7" name="Chunks number"/>
          <p:cNvSpPr txBox="1"/>
          <p:nvPr/>
        </p:nvSpPr>
        <p:spPr>
          <a:xfrm>
            <a:off x="457200" y="3017520"/>
            <a:ext cx="329184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2,864</a:t>
            </a:r>
            <a:endParaRPr lang="en-US" sz="5400" dirty="0"/>
          </a:p>
        </p:txBody>
      </p:sp>
      <p:sp>
        <p:nvSpPr>
          <p:cNvPr id="8" name="Chunks label"/>
          <p:cNvSpPr txBox="1"/>
          <p:nvPr/>
        </p:nvSpPr>
        <p:spPr>
          <a:xfrm>
            <a:off x="457200" y="3931920"/>
            <a:ext cx="3291840" cy="457200"/>
          </a:xfrm>
          <a:prstGeom prst="rect">
            <a:avLst/>
          </a:prstGeom>
          <a:noFill/>
          <a:ln/>
        </p:spPr>
        <p:txBody>
          <a:bodyPr wrap="square" lIns="0" tIns="0" rIns="0" bIns="0" rtlCol="0" anchor="ctr"/>
          <a:lstStyle/>
          <a:p>
            <a:pPr algn="ctr" indent="0" marL="0">
              <a:buNone/>
            </a:pPr>
            <a:r>
              <a:rPr lang="en-US" sz="1600" dirty="0">
                <a:solidFill>
                  <a:schemeClr val="tx1"/>
                </a:solidFill>
                <a:latin typeface="Calibri" pitchFamily="34" charset="0"/>
                <a:ea typeface="Calibri" pitchFamily="34" charset="-122"/>
                <a:cs typeface="Calibri" pitchFamily="34" charset="-120"/>
              </a:rPr>
              <a:t>searchable chunks</a:t>
            </a:r>
            <a:endParaRPr lang="en-US" sz="1600" dirty="0"/>
          </a:p>
        </p:txBody>
      </p:sp>
      <p:graphicFrame>
        <p:nvGraphicFramePr>
          <p:cNvPr id="9" name="Document types chart" descr=""/>
          <p:cNvGraphicFramePr/>
          <p:nvPr/>
        </p:nvGraphicFramePr>
        <p:xfrm>
          <a:off x="4023360" y="1143000"/>
          <a:ext cx="466344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Results and testing</a:t>
            </a:r>
            <a:endParaRPr lang="en-US" sz="3200" dirty="0"/>
          </a:p>
        </p:txBody>
      </p:sp>
      <p:sp>
        <p:nvSpPr>
          <p:cNvPr id="3" name="Result card 1"/>
          <p:cNvSpPr/>
          <p:nvPr/>
        </p:nvSpPr>
        <p:spPr>
          <a:xfrm>
            <a:off x="457200" y="1188720"/>
            <a:ext cx="2560320" cy="1234440"/>
          </a:xfrm>
          <a:prstGeom prst="roundRect">
            <a:avLst>
              <a:gd name="adj" fmla="val 8889"/>
            </a:avLst>
          </a:prstGeom>
          <a:solidFill>
            <a:schemeClr val="bg1"/>
          </a:solidFill>
          <a:ln w="9525">
            <a:solidFill>
              <a:schemeClr val="accent2"/>
            </a:solidFill>
            <a:prstDash val="solid"/>
          </a:ln>
        </p:spPr>
      </p:sp>
      <p:sp>
        <p:nvSpPr>
          <p:cNvPr id="4" name="Result 1"/>
          <p:cNvSpPr txBox="1"/>
          <p:nvPr/>
        </p:nvSpPr>
        <p:spPr>
          <a:xfrm>
            <a:off x="457200" y="1261872"/>
            <a:ext cx="256032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19 of 19</a:t>
            </a:r>
            <a:endParaRPr lang="en-US" sz="3600" dirty="0"/>
          </a:p>
        </p:txBody>
      </p:sp>
      <p:sp>
        <p:nvSpPr>
          <p:cNvPr id="5" name="Result label 1"/>
          <p:cNvSpPr txBox="1"/>
          <p:nvPr/>
        </p:nvSpPr>
        <p:spPr>
          <a:xfrm>
            <a:off x="457200" y="1920240"/>
            <a:ext cx="2560320" cy="36576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test questions passed</a:t>
            </a:r>
            <a:endParaRPr lang="en-US" sz="1400" dirty="0"/>
          </a:p>
        </p:txBody>
      </p:sp>
      <p:sp>
        <p:nvSpPr>
          <p:cNvPr id="6" name="Result card 2"/>
          <p:cNvSpPr/>
          <p:nvPr/>
        </p:nvSpPr>
        <p:spPr>
          <a:xfrm>
            <a:off x="3291840" y="1188720"/>
            <a:ext cx="2560320" cy="1234440"/>
          </a:xfrm>
          <a:prstGeom prst="roundRect">
            <a:avLst>
              <a:gd name="adj" fmla="val 8889"/>
            </a:avLst>
          </a:prstGeom>
          <a:solidFill>
            <a:schemeClr val="bg1"/>
          </a:solidFill>
          <a:ln w="9525">
            <a:solidFill>
              <a:schemeClr val="accent2"/>
            </a:solidFill>
            <a:prstDash val="solid"/>
          </a:ln>
        </p:spPr>
      </p:sp>
      <p:sp>
        <p:nvSpPr>
          <p:cNvPr id="7" name="Result 2"/>
          <p:cNvSpPr txBox="1"/>
          <p:nvPr/>
        </p:nvSpPr>
        <p:spPr>
          <a:xfrm>
            <a:off x="3291840" y="1261872"/>
            <a:ext cx="256032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1.5–4 s</a:t>
            </a:r>
            <a:endParaRPr lang="en-US" sz="3600" dirty="0"/>
          </a:p>
        </p:txBody>
      </p:sp>
      <p:sp>
        <p:nvSpPr>
          <p:cNvPr id="8" name="Result label 2"/>
          <p:cNvSpPr txBox="1"/>
          <p:nvPr/>
        </p:nvSpPr>
        <p:spPr>
          <a:xfrm>
            <a:off x="3291840" y="1920240"/>
            <a:ext cx="2560320" cy="36576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normal answer time</a:t>
            </a:r>
            <a:endParaRPr lang="en-US" sz="1400" dirty="0"/>
          </a:p>
        </p:txBody>
      </p:sp>
      <p:sp>
        <p:nvSpPr>
          <p:cNvPr id="9" name="Result card 3"/>
          <p:cNvSpPr/>
          <p:nvPr/>
        </p:nvSpPr>
        <p:spPr>
          <a:xfrm>
            <a:off x="6126480" y="1188720"/>
            <a:ext cx="2560320" cy="1234440"/>
          </a:xfrm>
          <a:prstGeom prst="roundRect">
            <a:avLst>
              <a:gd name="adj" fmla="val 8889"/>
            </a:avLst>
          </a:prstGeom>
          <a:solidFill>
            <a:schemeClr val="bg1"/>
          </a:solidFill>
          <a:ln w="9525">
            <a:solidFill>
              <a:schemeClr val="accent2"/>
            </a:solidFill>
            <a:prstDash val="solid"/>
          </a:ln>
        </p:spPr>
      </p:sp>
      <p:sp>
        <p:nvSpPr>
          <p:cNvPr id="10" name="Result 3"/>
          <p:cNvSpPr txBox="1"/>
          <p:nvPr/>
        </p:nvSpPr>
        <p:spPr>
          <a:xfrm>
            <a:off x="6126480" y="1261872"/>
            <a:ext cx="256032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36</a:t>
            </a:r>
            <a:endParaRPr lang="en-US" sz="3600" dirty="0"/>
          </a:p>
        </p:txBody>
      </p:sp>
      <p:sp>
        <p:nvSpPr>
          <p:cNvPr id="11" name="Result label 3"/>
          <p:cNvSpPr txBox="1"/>
          <p:nvPr/>
        </p:nvSpPr>
        <p:spPr>
          <a:xfrm>
            <a:off x="6126480" y="1920240"/>
            <a:ext cx="2560320" cy="36576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automatic tests passed</a:t>
            </a:r>
            <a:endParaRPr lang="en-US" sz="1400" dirty="0"/>
          </a:p>
        </p:txBody>
      </p:sp>
      <p:graphicFrame>
        <p:nvGraphicFramePr>
          <p:cNvPr id="12" name="Rank chart" descr=""/>
          <p:cNvGraphicFramePr/>
          <p:nvPr/>
        </p:nvGraphicFramePr>
        <p:xfrm>
          <a:off x="457200" y="2606040"/>
          <a:ext cx="4754880" cy="2103120"/>
        </p:xfrm>
        <a:graphic xmlns:a="http://schemas.openxmlformats.org/drawingml/2006/main">
          <a:graphicData uri="http://schemas.openxmlformats.org/drawingml/2006/chart">
            <c:chart xmlns:c="http://schemas.openxmlformats.org/drawingml/2006/chart" r:id="rId1"/>
          </a:graphicData>
        </a:graphic>
      </p:graphicFrame>
      <p:sp>
        <p:nvSpPr>
          <p:cNvPr id="13" name="Result notes"/>
          <p:cNvSpPr txBox="1"/>
          <p:nvPr/>
        </p:nvSpPr>
        <p:spPr>
          <a:xfrm>
            <a:off x="5486400" y="2743200"/>
            <a:ext cx="320040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The right page was found for all 14 questions that name a page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When one search is busy, the other still answers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Unanswerable questions get a clear refusal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Live demo</a:t>
            </a:r>
            <a:endParaRPr lang="en-US" sz="3200" dirty="0"/>
          </a:p>
        </p:txBody>
      </p:sp>
      <p:sp>
        <p:nvSpPr>
          <p:cNvPr id="3" name="Website address">
            <a:hlinkClick r:id="rId1" tooltip=""/>
          </p:cNvPr>
          <p:cNvSpPr txBox="1"/>
          <p:nvPr/>
        </p:nvSpPr>
        <p:spPr>
          <a:xfrm>
            <a:off x="457200" y="1051560"/>
            <a:ext cx="8229600" cy="365760"/>
          </a:xfrm>
          <a:prstGeom prst="rect">
            <a:avLst/>
          </a:prstGeom>
          <a:noFill/>
          <a:ln/>
        </p:spPr>
        <p:txBody>
          <a:bodyPr wrap="square" lIns="0" tIns="0" rIns="0" bIns="0" rtlCol="0" anchor="ctr"/>
          <a:lstStyle/>
          <a:p>
            <a:pPr indent="0" marL="0">
              <a:buNone/>
            </a:pPr>
            <a:r>
              <a:rPr lang="en-US" sz="1800" b="1" u="sng" dirty="0">
                <a:solidFill>
                  <a:schemeClr val="accent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query-campus-web.onrender.com</a:t>
            </a:r>
            <a:endParaRPr lang="en-US" sz="1800" dirty="0"/>
          </a:p>
        </p:txBody>
      </p:sp>
      <p:pic>
        <p:nvPicPr>
          <p:cNvPr id="4" name="Home screenshot" descr="Home screen of Query Campus">    </p:cNvPr>
          <p:cNvPicPr>
            <a:picLocks noChangeAspect="1"/>
          </p:cNvPicPr>
          <p:nvPr/>
        </p:nvPicPr>
        <p:blipFill>
          <a:blip r:embed="rId2"/>
          <a:stretch>
            <a:fillRect/>
          </a:stretch>
        </p:blipFill>
        <p:spPr>
          <a:xfrm>
            <a:off x="457200" y="1554480"/>
            <a:ext cx="2834640" cy="2976372"/>
          </a:xfrm>
          <a:prstGeom prst="rect">
            <a:avLst/>
          </a:prstGeom>
        </p:spPr>
      </p:pic>
      <p:pic>
        <p:nvPicPr>
          <p:cNvPr id="5" name="Answer screenshot" descr="Answer with a source link">    </p:cNvPr>
          <p:cNvPicPr>
            <a:picLocks noChangeAspect="1"/>
          </p:cNvPicPr>
          <p:nvPr/>
        </p:nvPicPr>
        <p:blipFill>
          <a:blip r:embed="rId3"/>
          <a:stretch>
            <a:fillRect/>
          </a:stretch>
        </p:blipFill>
        <p:spPr>
          <a:xfrm>
            <a:off x="3474720" y="1554480"/>
            <a:ext cx="2834640" cy="2976372"/>
          </a:xfrm>
          <a:prstGeom prst="rect">
            <a:avLst/>
          </a:prstGeom>
        </p:spPr>
      </p:pic>
      <p:sp>
        <p:nvSpPr>
          <p:cNvPr id="6" name="Sample questions"/>
          <p:cNvSpPr txBox="1"/>
          <p:nvPr/>
        </p:nvSpPr>
        <p:spPr>
          <a:xfrm>
            <a:off x="6537960" y="1554480"/>
            <a:ext cx="2148840" cy="3017520"/>
          </a:xfrm>
          <a:prstGeom prst="rect">
            <a:avLst/>
          </a:prstGeom>
          <a:noFill/>
          <a:ln/>
        </p:spPr>
        <p:txBody>
          <a:bodyPr wrap="square" lIns="0" tIns="0" rIns="0" bIns="0" rtlCol="0" anchor="t"/>
          <a:lstStyle/>
          <a:p>
            <a:pPr indent="0" marL="0">
              <a:spcAft>
                <a:spcPts val="1000"/>
              </a:spcAft>
              <a:buNone/>
            </a:pPr>
            <a:r>
              <a:rPr lang="en-US" sz="1600" b="1" dirty="0">
                <a:solidFill>
                  <a:schemeClr val="accent1"/>
                </a:solidFill>
                <a:latin typeface="Calibri" pitchFamily="34" charset="0"/>
                <a:ea typeface="Calibri" pitchFamily="34" charset="-122"/>
                <a:cs typeface="Calibri" pitchFamily="34" charset="-120"/>
              </a:rPr>
              <a:t>Try asking:</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Who is the class coordinator of 4th year CSE section B?</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Send me the 2nd year IT section A timetable</a:t>
            </a:r>
            <a:endParaRPr lang="en-US" sz="1400" dirty="0"/>
          </a:p>
          <a:p>
            <a:pPr indent="0" marL="0">
              <a:spcAft>
                <a:spcPts val="1000"/>
              </a:spcAft>
              <a:buNone/>
            </a:pPr>
            <a:r>
              <a:rPr lang="en-US" sz="1400" dirty="0">
                <a:solidFill>
                  <a:schemeClr val="tx1"/>
                </a:solidFill>
                <a:latin typeface="Calibri" pitchFamily="34" charset="0"/>
                <a:ea typeface="Calibri" pitchFamily="34" charset="-122"/>
                <a:cs typeface="Calibri" pitchFamily="34" charset="-120"/>
              </a:rPr>
              <a:t>What are the B.Tech fees?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0E0D0C"/>
                </a:solidFill>
                <a:latin typeface="Cambria" pitchFamily="34" charset="0"/>
                <a:ea typeface="Cambria" pitchFamily="34" charset="-122"/>
                <a:cs typeface="Cambria" pitchFamily="34" charset="-120"/>
              </a:rPr>
              <a:t>Limitations, future work and conclusion</a:t>
            </a:r>
            <a:endParaRPr lang="en-US" sz="3200" dirty="0"/>
          </a:p>
        </p:txBody>
      </p:sp>
      <p:sp>
        <p:nvSpPr>
          <p:cNvPr id="3" name="Column card 1"/>
          <p:cNvSpPr/>
          <p:nvPr/>
        </p:nvSpPr>
        <p:spPr>
          <a:xfrm>
            <a:off x="457200" y="1188720"/>
            <a:ext cx="2651760" cy="2514600"/>
          </a:xfrm>
          <a:prstGeom prst="roundRect">
            <a:avLst>
              <a:gd name="adj" fmla="val 4364"/>
            </a:avLst>
          </a:prstGeom>
          <a:solidFill>
            <a:schemeClr val="bg1"/>
          </a:solidFill>
          <a:ln w="9525">
            <a:solidFill>
              <a:schemeClr val="accent2"/>
            </a:solidFill>
            <a:prstDash val="solid"/>
          </a:ln>
        </p:spPr>
      </p:sp>
      <p:sp>
        <p:nvSpPr>
          <p:cNvPr id="4" name="Column title 1"/>
          <p:cNvSpPr txBox="1"/>
          <p:nvPr/>
        </p:nvSpPr>
        <p:spPr>
          <a:xfrm>
            <a:off x="640080" y="1280160"/>
            <a:ext cx="22860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Limitations</a:t>
            </a:r>
            <a:endParaRPr lang="en-US" sz="1800" dirty="0"/>
          </a:p>
        </p:txBody>
      </p:sp>
      <p:sp>
        <p:nvSpPr>
          <p:cNvPr id="5" name="Column text 1"/>
          <p:cNvSpPr txBox="1"/>
          <p:nvPr/>
        </p:nvSpPr>
        <p:spPr>
          <a:xfrm>
            <a:off x="640080" y="1783080"/>
            <a:ext cx="23317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 chat memory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Data is as new as the last crawl</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Scanned PDFs are not read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Free plan limits</a:t>
            </a:r>
            <a:endParaRPr lang="en-US" sz="1400" dirty="0"/>
          </a:p>
        </p:txBody>
      </p:sp>
      <p:sp>
        <p:nvSpPr>
          <p:cNvPr id="6" name="Column card 2"/>
          <p:cNvSpPr/>
          <p:nvPr/>
        </p:nvSpPr>
        <p:spPr>
          <a:xfrm>
            <a:off x="3246120" y="1188720"/>
            <a:ext cx="2651760" cy="2514600"/>
          </a:xfrm>
          <a:prstGeom prst="roundRect">
            <a:avLst>
              <a:gd name="adj" fmla="val 4364"/>
            </a:avLst>
          </a:prstGeom>
          <a:solidFill>
            <a:schemeClr val="bg1"/>
          </a:solidFill>
          <a:ln w="9525">
            <a:solidFill>
              <a:schemeClr val="accent2"/>
            </a:solidFill>
            <a:prstDash val="solid"/>
          </a:ln>
        </p:spPr>
      </p:sp>
      <p:sp>
        <p:nvSpPr>
          <p:cNvPr id="7" name="Column title 2"/>
          <p:cNvSpPr txBox="1"/>
          <p:nvPr/>
        </p:nvSpPr>
        <p:spPr>
          <a:xfrm>
            <a:off x="3429000" y="1280160"/>
            <a:ext cx="22860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Future work</a:t>
            </a:r>
            <a:endParaRPr lang="en-US" sz="1800" dirty="0"/>
          </a:p>
        </p:txBody>
      </p:sp>
      <p:sp>
        <p:nvSpPr>
          <p:cNvPr id="8" name="Column text 2"/>
          <p:cNvSpPr txBox="1"/>
          <p:nvPr/>
        </p:nvSpPr>
        <p:spPr>
          <a:xfrm>
            <a:off x="3429000" y="1783080"/>
            <a:ext cx="23317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Chat memory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Hindi support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Automatic updates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WhatsApp or Telegram bot</a:t>
            </a:r>
            <a:endParaRPr lang="en-US" sz="1400" dirty="0"/>
          </a:p>
        </p:txBody>
      </p:sp>
      <p:sp>
        <p:nvSpPr>
          <p:cNvPr id="9" name="Column card 3"/>
          <p:cNvSpPr/>
          <p:nvPr/>
        </p:nvSpPr>
        <p:spPr>
          <a:xfrm>
            <a:off x="6035040" y="1188720"/>
            <a:ext cx="2651760" cy="2514600"/>
          </a:xfrm>
          <a:prstGeom prst="roundRect">
            <a:avLst>
              <a:gd name="adj" fmla="val 4364"/>
            </a:avLst>
          </a:prstGeom>
          <a:solidFill>
            <a:schemeClr val="bg1"/>
          </a:solidFill>
          <a:ln w="9525">
            <a:solidFill>
              <a:schemeClr val="accent2"/>
            </a:solidFill>
            <a:prstDash val="solid"/>
          </a:ln>
        </p:spPr>
      </p:sp>
      <p:sp>
        <p:nvSpPr>
          <p:cNvPr id="10" name="Column title 3"/>
          <p:cNvSpPr txBox="1"/>
          <p:nvPr/>
        </p:nvSpPr>
        <p:spPr>
          <a:xfrm>
            <a:off x="6217920" y="1280160"/>
            <a:ext cx="22860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Conclusion</a:t>
            </a:r>
            <a:endParaRPr lang="en-US" sz="1800" dirty="0"/>
          </a:p>
        </p:txBody>
      </p:sp>
      <p:sp>
        <p:nvSpPr>
          <p:cNvPr id="11" name="Column text 3"/>
          <p:cNvSpPr txBox="1"/>
          <p:nvPr/>
        </p:nvSpPr>
        <p:spPr>
          <a:xfrm>
            <a:off x="6217920" y="1783080"/>
            <a:ext cx="233172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Small, low-cost and self-hosted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Answers come only from college pages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Shows sources, never guesses</a:t>
            </a:r>
            <a:endParaRPr lang="en-US" sz="1400" dirty="0"/>
          </a:p>
        </p:txBody>
      </p:sp>
      <p:sp>
        <p:nvSpPr>
          <p:cNvPr id="12" name="Closing band"/>
          <p:cNvSpPr/>
          <p:nvPr/>
        </p:nvSpPr>
        <p:spPr>
          <a:xfrm>
            <a:off x="457200" y="3931920"/>
            <a:ext cx="8229600" cy="731520"/>
          </a:xfrm>
          <a:prstGeom prst="roundRect">
            <a:avLst>
              <a:gd name="adj" fmla="val 15000"/>
            </a:avLst>
          </a:prstGeom>
          <a:solidFill>
            <a:schemeClr val="tx1"/>
          </a:solidFill>
          <a:ln w="12700">
            <a:solidFill>
              <a:schemeClr val="tx1"/>
            </a:solidFill>
            <a:prstDash val="solid"/>
          </a:ln>
        </p:spPr>
      </p:sp>
      <p:sp>
        <p:nvSpPr>
          <p:cNvPr id="13" name="Closing text"/>
          <p:cNvSpPr txBox="1"/>
          <p:nvPr/>
        </p:nvSpPr>
        <p:spPr>
          <a:xfrm>
            <a:off x="457200" y="3931920"/>
            <a:ext cx="8229600" cy="731520"/>
          </a:xfrm>
          <a:prstGeom prst="rect">
            <a:avLst/>
          </a:prstGeom>
          <a:noFill/>
          <a:ln/>
        </p:spPr>
        <p:txBody>
          <a:bodyPr wrap="square" lIns="0" tIns="0" rIns="0" bIns="0" rtlCol="0" anchor="ctr"/>
          <a:lstStyle/>
          <a:p>
            <a:pPr algn="ctr" indent="0" marL="0">
              <a:buNone/>
            </a:pPr>
            <a:r>
              <a:rPr lang="en-US" sz="2400" b="1" dirty="0">
                <a:solidFill>
                  <a:srgbClr val="F4F2EA"/>
                </a:solidFill>
                <a:latin typeface="Cambria" pitchFamily="34" charset="0"/>
                <a:ea typeface="Cambria" pitchFamily="34" charset="-122"/>
                <a:cs typeface="Cambria" pitchFamily="34" charset="-120"/>
              </a:rPr>
              <a:t>Thank you   |   Questions?</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D6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Query Campus">
  <a:themeElements>
    <a:clrScheme name="Query Campus">
      <a:dk1>
        <a:srgbClr val="0E0D0C"/>
      </a:dk1>
      <a:lt1>
        <a:srgbClr val="F4F2EA"/>
      </a:lt1>
      <a:dk2>
        <a:srgbClr val="2E2D2B"/>
      </a:dk2>
      <a:lt2>
        <a:srgbClr val="EAE7DC"/>
      </a:lt2>
      <a:accent1>
        <a:srgbClr val="E85A4F"/>
      </a:accent1>
      <a:accent2>
        <a:srgbClr val="D8C3A5"/>
      </a:accent2>
      <a:accent3>
        <a:srgbClr val="8E8D8A"/>
      </a:accent3>
      <a:accent4>
        <a:srgbClr val="E98074"/>
      </a:accent4>
      <a:accent5>
        <a:srgbClr val="6E6D69"/>
      </a:accent5>
      <a:accent6>
        <a:srgbClr val="B8A98C"/>
      </a:accent6>
      <a:hlink>
        <a:srgbClr val="E85A4F"/>
      </a:hlink>
      <a:folHlink>
        <a:srgbClr val="8E8D8A"/>
      </a:folHlink>
    </a:clrScheme>
    <a:fontScheme name="Query Campu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Campus: Project Presentation</dc:title>
  <dc:subject>PptxGenJS Presentation</dc:subject>
  <dc:creator>Akshat Sharma, Tanmay Choudhary, Riya Rawat</dc:creator>
  <cp:lastModifiedBy>Akshat Sharma, Tanmay Choudhary, Riya Rawat</cp:lastModifiedBy>
  <cp:revision>1</cp:revision>
  <dcterms:created xsi:type="dcterms:W3CDTF">2026-10-27T16:54:51Z</dcterms:created>
  <dcterms:modified xsi:type="dcterms:W3CDTF">2026-10-27T16:54:51Z</dcterms:modified>
</cp:coreProperties>
</file>